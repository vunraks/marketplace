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439c61e9647ce" /><Relationship Type="http://schemas.openxmlformats.org/officeDocument/2006/relationships/extended-properties" Target="/docProps/app.xml" Id="Rf7036009a96944db" /><Relationship Type="http://schemas.openxmlformats.org/officeDocument/2006/relationships/officeDocument" Target="/ppt/presentation.xml" Id="R8385380e9f9a45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267c54fc024bd0"/>
  </p:sldMasterIdLst>
  <p:notesMasterIdLst>
    <p:notesMasterId xmlns:r="http://schemas.openxmlformats.org/officeDocument/2006/relationships" r:id="Ree436891315a4485"/>
  </p:notesMasterIdLst>
  <p:sldIdLst>
    <p:sldId xmlns:r="http://schemas.openxmlformats.org/officeDocument/2006/relationships" id="256" r:id="R2a68313179d94a82"/>
    <p:sldId xmlns:r="http://schemas.openxmlformats.org/officeDocument/2006/relationships" id="257" r:id="Rf975bb4c2aa34b29"/>
    <p:sldId xmlns:r="http://schemas.openxmlformats.org/officeDocument/2006/relationships" id="258" r:id="R857d45c275544ad8"/>
    <p:sldId xmlns:r="http://schemas.openxmlformats.org/officeDocument/2006/relationships" id="259" r:id="R34fd366c00c64294"/>
    <p:sldId xmlns:r="http://schemas.openxmlformats.org/officeDocument/2006/relationships" id="260" r:id="R78e0c4c2c26845fb"/>
    <p:sldId xmlns:r="http://schemas.openxmlformats.org/officeDocument/2006/relationships" id="261" r:id="Rbf63cc83b1894203"/>
    <p:sldId xmlns:r="http://schemas.openxmlformats.org/officeDocument/2006/relationships" id="262" r:id="Rf3e0b197b29846ac"/>
    <p:sldId xmlns:r="http://schemas.openxmlformats.org/officeDocument/2006/relationships" id="263" r:id="R76eb234102d24e46"/>
    <p:sldId xmlns:r="http://schemas.openxmlformats.org/officeDocument/2006/relationships" id="264" r:id="R935c0a94fd294749"/>
    <p:sldId xmlns:r="http://schemas.openxmlformats.org/officeDocument/2006/relationships" id="265" r:id="Rc002b1e6f7f646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8add16b80a4648" /><Relationship Type="http://schemas.openxmlformats.org/officeDocument/2006/relationships/slideMaster" Target="/ppt/slideMasters/slideMaster1.xml" Id="R34267c54fc024bd0" /><Relationship Type="http://schemas.openxmlformats.org/officeDocument/2006/relationships/notesMaster" Target="/ppt/notesMasters/notesMaster1.xml" Id="Ree436891315a4485" /><Relationship Type="http://schemas.openxmlformats.org/officeDocument/2006/relationships/presProps" Target="/ppt/presProps.xml" Id="R2db2646b3495400c" /><Relationship Type="http://schemas.openxmlformats.org/officeDocument/2006/relationships/tableStyles" Target="/ppt/tableStyles.xml" Id="R159ab0b0e61043d6" /><Relationship Type="http://schemas.openxmlformats.org/officeDocument/2006/relationships/slide" Target="/ppt/slides/slide1.xml" Id="R2a68313179d94a82" /><Relationship Type="http://schemas.openxmlformats.org/officeDocument/2006/relationships/slide" Target="/ppt/slides/slide2.xml" Id="Rf975bb4c2aa34b29" /><Relationship Type="http://schemas.openxmlformats.org/officeDocument/2006/relationships/slide" Target="/ppt/slides/slide3.xml" Id="R857d45c275544ad8" /><Relationship Type="http://schemas.openxmlformats.org/officeDocument/2006/relationships/slide" Target="/ppt/slides/slide4.xml" Id="R34fd366c00c64294" /><Relationship Type="http://schemas.openxmlformats.org/officeDocument/2006/relationships/slide" Target="/ppt/slides/slide5.xml" Id="R78e0c4c2c26845fb" /><Relationship Type="http://schemas.openxmlformats.org/officeDocument/2006/relationships/slide" Target="/ppt/slides/slide6.xml" Id="Rbf63cc83b1894203" /><Relationship Type="http://schemas.openxmlformats.org/officeDocument/2006/relationships/slide" Target="/ppt/slides/slide7.xml" Id="Rf3e0b197b29846ac" /><Relationship Type="http://schemas.openxmlformats.org/officeDocument/2006/relationships/slide" Target="/ppt/slides/slide8.xml" Id="R76eb234102d24e46" /><Relationship Type="http://schemas.openxmlformats.org/officeDocument/2006/relationships/slide" Target="/ppt/slides/slide9.xml" Id="R935c0a94fd294749" /><Relationship Type="http://schemas.openxmlformats.org/officeDocument/2006/relationships/slide" Target="/ppt/slides/slide10.xml" Id="Rc002b1e6f7f646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77aa23d4a9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be413c057421c" /><Relationship Type="http://schemas.openxmlformats.org/officeDocument/2006/relationships/notesMaster" Target="/ppt/notesMasters/notesMaster1.xml" Id="Ra851fb4e47d847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db82e02af4a8e" /><Relationship Type="http://schemas.openxmlformats.org/officeDocument/2006/relationships/notesMaster" Target="/ppt/notesMasters/notesMaster1.xml" Id="Rf5e1ab2275a6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a6bcd814034ce6" /><Relationship Type="http://schemas.openxmlformats.org/officeDocument/2006/relationships/notesMaster" Target="/ppt/notesMasters/notesMaster1.xml" Id="R2ba1c83b39164b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6b921563ce45aa" /><Relationship Type="http://schemas.openxmlformats.org/officeDocument/2006/relationships/notesMaster" Target="/ppt/notesMasters/notesMaster1.xml" Id="Ra51c4e015dc443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37840a7abb4001" /><Relationship Type="http://schemas.openxmlformats.org/officeDocument/2006/relationships/notesMaster" Target="/ppt/notesMasters/notesMaster1.xml" Id="R4c338ed9f0a341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91dd8690744cdc" /><Relationship Type="http://schemas.openxmlformats.org/officeDocument/2006/relationships/notesMaster" Target="/ppt/notesMasters/notesMaster1.xml" Id="R3a06404b56ee4b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a83ebe7eb2422f" /><Relationship Type="http://schemas.openxmlformats.org/officeDocument/2006/relationships/notesMaster" Target="/ppt/notesMasters/notesMaster1.xml" Id="R6363331412ae45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5180d164874dde" /><Relationship Type="http://schemas.openxmlformats.org/officeDocument/2006/relationships/notesMaster" Target="/ppt/notesMasters/notesMaster1.xml" Id="R03773b20e9b749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ca62599b574552" /><Relationship Type="http://schemas.openxmlformats.org/officeDocument/2006/relationships/notesMaster" Target="/ppt/notesMasters/notesMaster1.xml" Id="R3c1a7c4fc91f46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434a5bdce248f0" /><Relationship Type="http://schemas.openxmlformats.org/officeDocument/2006/relationships/notesMaster" Target="/ppt/notesMasters/notesMaster1.xml" Id="Rc765bed1484e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168fcfd50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59b5e319354102" /><Relationship Type="http://schemas.openxmlformats.org/officeDocument/2006/relationships/slideLayout" Target="/ppt/slideLayouts/slideLayout1.xml" Id="Rc9d199ddcfb642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d199ddcfb642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4f009233044b2" /><Relationship Type="http://schemas.openxmlformats.org/officeDocument/2006/relationships/notesSlide" Target="/ppt/notesSlides/notesSlide1.xml" Id="R384ef05f558648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aadf29c0241d7" /><Relationship Type="http://schemas.openxmlformats.org/officeDocument/2006/relationships/notesSlide" Target="/ppt/notesSlides/notesSlide2.xml" Id="R6b904ef80d62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89ec0134a44ea" /><Relationship Type="http://schemas.openxmlformats.org/officeDocument/2006/relationships/notesSlide" Target="/ppt/notesSlides/notesSlide3.xml" Id="Raabdf687162246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66dadc57d4b10" /><Relationship Type="http://schemas.openxmlformats.org/officeDocument/2006/relationships/image" Target="/ppt/media/image.bin" Id="Rdefe68762f6f457b" /><Relationship Type="http://schemas.openxmlformats.org/officeDocument/2006/relationships/image" Target="/ppt/media/image2.bin" Id="Ra1dbc09a30984b0f" /><Relationship Type="http://schemas.openxmlformats.org/officeDocument/2006/relationships/image" Target="/ppt/media/image3.bin" Id="R563d44abd7624c11" /><Relationship Type="http://schemas.openxmlformats.org/officeDocument/2006/relationships/notesSlide" Target="/ppt/notesSlides/notesSlide4.xml" Id="Rafd9167ed4d6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f4a48e3844b69" /><Relationship Type="http://schemas.openxmlformats.org/officeDocument/2006/relationships/notesSlide" Target="/ppt/notesSlides/notesSlide5.xml" Id="Rc838863a89f14d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0409bcc2d46f4" /><Relationship Type="http://schemas.openxmlformats.org/officeDocument/2006/relationships/notesSlide" Target="/ppt/notesSlides/notesSlide6.xml" Id="Rded46c7583d24d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50700634b4701" /><Relationship Type="http://schemas.openxmlformats.org/officeDocument/2006/relationships/notesSlide" Target="/ppt/notesSlides/notesSlide7.xml" Id="R3c8d4c306b8b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23bce50b24679" /><Relationship Type="http://schemas.openxmlformats.org/officeDocument/2006/relationships/notesSlide" Target="/ppt/notesSlides/notesSlide8.xml" Id="R26bb5b5162fe4e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6660210314849" /><Relationship Type="http://schemas.openxmlformats.org/officeDocument/2006/relationships/notesSlide" Target="/ppt/notesSlides/notesSlide9.xml" Id="R99df52dc903c41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86a4a0871495f" /><Relationship Type="http://schemas.openxmlformats.org/officeDocument/2006/relationships/notesSlide" Target="/ppt/notesSlides/notesSlide10.xml" Id="Re4c9e8666a1545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F997E-AE69-459F-AAE4-1DD07C66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3FFF6"/>
                </a:solidFill>
              </a:defRPr>
            </a:pPr>
            <a:r>
              <a:rPr sz="4350" b="1">
                <a:solidFill>
                  <a:srgbClr val="F3FFF6"/>
                </a:solidFill>
              </a:rPr>
              <a:t>VaultTrade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39C80-34EF-4B5A-96FA-E246B45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FB9C8"/>
                </a:solidFill>
              </a:defRPr>
            </a:pPr>
            <a:r>
              <a:rPr sz="1875" b="0">
                <a:solidFill>
                  <a:srgbClr val="9FB9C8"/>
                </a:solidFill>
              </a:rPr>
              <a:t>Маркетплейс цифровых товаров с безопасной сделкой, чатами, модерацией и виртуальной валютой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B2BAF-C4A4-450F-96F2-A64CD2B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31A"/>
          </a:solidFill>
          <a:ln xmlns:a="http://schemas.openxmlformats.org/drawingml/2006/main" w="9525">
            <a:solidFill>
              <a:srgbClr val="45D8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5D86A"/>
                </a:solidFill>
              </a:defRPr>
            </a:pPr>
            <a:r>
              <a:rPr sz="1200" b="1">
                <a:solidFill>
                  <a:srgbClr val="45D86A"/>
                </a:solidFill>
              </a:rPr>
              <a:t>React + ASP.NET 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3E4A7-BCF4-4402-8B09-2559842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31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9807C-3C54-495C-AB21-64EA6550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2890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31A"/>
          </a:solidFill>
          <a:ln xmlns:a="http://schemas.openxmlformats.org/drawingml/2006/main" w="9525">
            <a:solidFill>
              <a:srgbClr val="FACC1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CC15"/>
                </a:solidFill>
              </a:defRPr>
            </a:pPr>
            <a:r>
              <a:rPr sz="1200" b="1">
                <a:solidFill>
                  <a:srgbClr val="FACC15"/>
                </a:solidFill>
              </a:rPr>
              <a:t>SignalR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49EA6-0A62-446C-B23E-EA4CB03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3714750" cy="4000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1720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C6544-9313-446B-BEDE-500CEE8C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43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FF6"/>
                </a:solidFill>
              </a:defRPr>
            </a:pPr>
            <a:r>
              <a:rPr sz="1875" b="1">
                <a:solidFill>
                  <a:srgbClr val="F3FFF6"/>
                </a:solidFill>
              </a:rPr>
              <a:t>Что демонстрирует проект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155FC-684A-4AA8-BB80-8920010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52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86A"/>
                </a:solidFill>
              </a:defRPr>
            </a:pPr>
            <a:r>
              <a:rPr sz="1350" b="1">
                <a:solidFill>
                  <a:srgbClr val="45D86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05F57-F7AF-4BE1-8003-56120826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полный путь покупки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E1645-959B-470F-A154-E5A0066C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66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86A"/>
                </a:solidFill>
              </a:defRPr>
            </a:pPr>
            <a:r>
              <a:rPr sz="1350" b="1">
                <a:solidFill>
                  <a:srgbClr val="45D86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E07DD-4E46-42C0-A157-C41601F9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реальные роли и права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794B1-8F2E-4000-84D3-7E3118A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86A"/>
                </a:solidFill>
              </a:defRPr>
            </a:pPr>
            <a:r>
              <a:rPr sz="1350" b="1">
                <a:solidFill>
                  <a:srgbClr val="45D86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8E500-E0AF-4A86-A914-D19F51C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527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модерация объявлений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3ADF4-D3F6-4070-85AA-A90CF4E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95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86A"/>
                </a:solidFill>
              </a:defRPr>
            </a:pPr>
            <a:r>
              <a:rPr sz="1350" b="1">
                <a:solidFill>
                  <a:srgbClr val="45D86A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95CE2-6106-4B67-A14A-BAE09A18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67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чаты и уведомления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90A04-DCC9-45D6-B8A7-9BD5091B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100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86A"/>
                </a:solidFill>
              </a:defRPr>
            </a:pPr>
            <a:r>
              <a:rPr sz="1350" b="1">
                <a:solidFill>
                  <a:srgbClr val="45D86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F6336-6C64-4494-8243-DE1E6E36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деплой Render + Vercel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082B0-FCBC-47C4-AC93-7A60F54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1</a:t>
            </a:r>
          </a:p>
        </p:txBody>
      </p:sp>
    </p:spTree>
    <p:extLst>
      <p:ext uri="{BB962C8B-B14F-4D97-AF65-F5344CB8AC3E}">
        <p14:creationId xmlns:p14="http://schemas.microsoft.com/office/powerpoint/2010/main" val="1979339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28E433-1567-455B-966F-227A9AE0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Проблема: цифровой товар сложно купить безопасно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6FCC5-6785-4C3B-BE41-B7AD2AE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FB9C8"/>
                </a:solidFill>
              </a:defRPr>
            </a:pPr>
            <a:r>
              <a:rPr sz="1650" b="0">
                <a:solidFill>
                  <a:srgbClr val="9FB9C8"/>
                </a:solidFill>
              </a:rPr>
              <a:t>Покупатель хочет проверить товар до списания средств, продавец хочет понимать статус сделки, а платформа должна контролировать риски.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7C155-C372-42E0-A9F3-3E8A6DB3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766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BFBC0-A4A9-48C7-9054-393E451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5D86A"/>
                </a:solidFill>
              </a:defRPr>
            </a:pPr>
            <a:r>
              <a:rPr sz="2025" b="1">
                <a:solidFill>
                  <a:srgbClr val="45D86A"/>
                </a:solidFill>
              </a:rPr>
              <a:t>Покупатель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F4077-9492-451E-8405-132B59AF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9C8"/>
                </a:solidFill>
              </a:defRPr>
            </a:pPr>
            <a:r>
              <a:rPr sz="1575" b="0">
                <a:solidFill>
                  <a:srgbClr val="9FB9C8"/>
                </a:solidFill>
              </a:rPr>
              <a:t>боится оплатить товар, который не получит или не сможет проверить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0AA52-12B2-45A0-BE92-3152368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32766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1A4A3-B7DC-4227-B203-9DC27EA1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5D86A"/>
                </a:solidFill>
              </a:defRPr>
            </a:pPr>
            <a:r>
              <a:rPr sz="2025" b="1">
                <a:solidFill>
                  <a:srgbClr val="45D86A"/>
                </a:solidFill>
              </a:rPr>
              <a:t>Продавец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63B46-2738-469E-B833-544EB6A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9C8"/>
                </a:solidFill>
              </a:defRPr>
            </a:pPr>
            <a:r>
              <a:rPr sz="1575" b="0">
                <a:solidFill>
                  <a:srgbClr val="9FB9C8"/>
                </a:solidFill>
              </a:rPr>
              <a:t>ждет прозрачный заказ, чат и уведомления без ручной проверки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F23AA-B103-422E-BA7D-92B9E780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32766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3C467-ED03-4314-ACE1-93041FB7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5D86A"/>
                </a:solidFill>
              </a:defRPr>
            </a:pPr>
            <a:r>
              <a:rPr sz="2025" b="1">
                <a:solidFill>
                  <a:srgbClr val="45D86A"/>
                </a:solidFill>
              </a:rPr>
              <a:t>Платформа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54980-DA20-4CA6-A3ED-98F6C0EB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9C8"/>
                </a:solidFill>
              </a:defRPr>
            </a:pPr>
            <a:r>
              <a:rPr sz="1575" b="0">
                <a:solidFill>
                  <a:srgbClr val="9FB9C8"/>
                </a:solidFill>
              </a:rPr>
              <a:t>должна модерировать товары, роли, споры и ограничения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08D91-E33B-499B-A13A-A6D7CE3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FFF6"/>
                </a:solidFill>
              </a:defRPr>
            </a:pPr>
            <a:r>
              <a:rPr sz="1875" b="1">
                <a:solidFill>
                  <a:srgbClr val="F3FFF6"/>
                </a:solidFill>
              </a:rPr>
              <a:t>VaultTrade решает это через резервирование, подтверждение заказа, real-time связь и роли модерации.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91119-5E5E-44A3-BD26-29946C2E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2</a:t>
            </a:r>
          </a:p>
        </p:txBody>
      </p:sp>
    </p:spTree>
    <p:extLst>
      <p:ext uri="{BB962C8B-B14F-4D97-AF65-F5344CB8AC3E}">
        <p14:creationId xmlns:p14="http://schemas.microsoft.com/office/powerpoint/2010/main" val="737379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B381BF-3EDF-49C6-94A7-46902F9C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Ключевой сценарий построен вокруг безопасной сделки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4221A-CE15-40AC-A92B-710C62AE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3BD47-75AA-4426-8264-2E816832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86A"/>
                </a:solidFill>
              </a:defRPr>
            </a:pPr>
            <a:r>
              <a:rPr sz="2550" b="1">
                <a:solidFill>
                  <a:srgbClr val="45D86A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77A4F-10CC-49B3-A3D8-D39F7C18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FF6"/>
                </a:solidFill>
              </a:defRPr>
            </a:pPr>
            <a:r>
              <a:rPr sz="1875" b="1">
                <a:solidFill>
                  <a:srgbClr val="F3FFF6"/>
                </a:solidFill>
              </a:rPr>
              <a:t>Каталог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1620F-020F-45C5-A7E9-870AF421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покупатель выбирает товар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4F404-6664-4303-94BE-82F66131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2DF7C-5192-42BB-A4A3-716B89DE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38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86A"/>
                </a:solidFill>
              </a:defRPr>
            </a:pPr>
            <a:r>
              <a:rPr sz="2550" b="1">
                <a:solidFill>
                  <a:srgbClr val="45D86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63E10-EDC9-4A77-929D-22318CA8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FF6"/>
                </a:solidFill>
              </a:defRPr>
            </a:pPr>
            <a:r>
              <a:rPr sz="1875" b="1">
                <a:solidFill>
                  <a:srgbClr val="F3FFF6"/>
                </a:solidFill>
              </a:rPr>
              <a:t>Заказ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FCDBC-E6C0-4198-B569-90540B72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040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товар резервируется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B2ED7-5495-48FD-83C9-48C0F517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A78D6-DB85-4C8D-BCE0-5ED7FB0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38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86A"/>
                </a:solidFill>
              </a:defRPr>
            </a:pPr>
            <a:r>
              <a:rPr sz="2550" b="1">
                <a:solidFill>
                  <a:srgbClr val="45D86A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CFBB2-1797-45A4-B5A0-5B0724DA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FF6"/>
                </a:solidFill>
              </a:defRPr>
            </a:pPr>
            <a:r>
              <a:rPr sz="1875" b="1">
                <a:solidFill>
                  <a:srgbClr val="F3FFF6"/>
                </a:solidFill>
              </a:rPr>
              <a:t>Проверка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0479D-C720-42A2-897B-D5EA9D2B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040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баланс еще не списан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20494-08D6-4155-8944-0A08389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6332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E1284-02C9-43EF-AB7D-B34EC526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F28E"/>
                </a:solidFill>
              </a:defRPr>
            </a:pPr>
            <a:r>
              <a:rPr sz="2550" b="1">
                <a:solidFill>
                  <a:srgbClr val="7AF28E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B255E-D734-43D4-A238-3D0D3E05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FF6"/>
                </a:solidFill>
              </a:defRPr>
            </a:pPr>
            <a:r>
              <a:rPr sz="1875" b="1">
                <a:solidFill>
                  <a:srgbClr val="F3FFF6"/>
                </a:solidFill>
              </a:rPr>
              <a:t>Подтверждение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29060-AC68-44CA-9C75-0821C688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VT списывается и начисляется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86E04-23DF-41AB-933C-A1D83467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EFE04-81C1-4000-B7BF-978B7D8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383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86A"/>
                </a:solidFill>
              </a:defRPr>
            </a:pPr>
            <a:r>
              <a:rPr sz="2550" b="1">
                <a:solidFill>
                  <a:srgbClr val="45D86A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6D145-86FA-4F71-BDB7-1AE1088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FF6"/>
                </a:solidFill>
              </a:defRPr>
            </a:pPr>
            <a:r>
              <a:rPr sz="1875" b="1">
                <a:solidFill>
                  <a:srgbClr val="F3FFF6"/>
                </a:solidFill>
              </a:rPr>
              <a:t>Отзыв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02652-ABA0-4878-937B-821778EC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040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репутация продавца растет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1D678-FE5E-429B-A6D0-1D440312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AF28E"/>
                </a:solidFill>
              </a:defRPr>
            </a:pPr>
            <a:r>
              <a:rPr sz="1875" b="1">
                <a:solidFill>
                  <a:srgbClr val="7AF28E"/>
                </a:solidFill>
              </a:rPr>
              <a:t>Главное отличие: покупка не равна моментальному списанию. Деньги переходят продавцу только после подтверждения товара.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04049-7900-446B-8808-908F421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3</a:t>
            </a:r>
          </a:p>
        </p:txBody>
      </p:sp>
    </p:spTree>
    <p:extLst>
      <p:ext uri="{BB962C8B-B14F-4D97-AF65-F5344CB8AC3E}">
        <p14:creationId xmlns:p14="http://schemas.microsoft.com/office/powerpoint/2010/main" val="183280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221BA-0F29-471E-BE1C-E367F1D6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Каталог и объявления выглядят как полноценная витрина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2128A-F565-41EC-AC38-8DB31B2B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FB9C8"/>
                </a:solidFill>
              </a:defRPr>
            </a:pPr>
            <a:r>
              <a:rPr sz="1650" b="0">
                <a:solidFill>
                  <a:srgbClr val="9FB9C8"/>
                </a:solidFill>
              </a:rPr>
              <a:t>Продавец может создать товар, указать остаток, загрузить свои изображения или выбрать стоковую обложку под категорию.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25B26-EBB2-4784-A68D-9C17329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9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e68762f6f457b"/>
          <a:srcRect xmlns:a="http://schemas.openxmlformats.org/drawingml/2006/main" l="142" t="0" r="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247900"/>
            <a:ext cx="2971800" cy="16764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41043-DDB2-4EB7-8CA3-63F2EB73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FF6"/>
                </a:solidFill>
              </a:defRPr>
            </a:pPr>
            <a:r>
              <a:rPr sz="1500" b="1">
                <a:solidFill>
                  <a:srgbClr val="F3FFF6"/>
                </a:solidFill>
              </a:rPr>
              <a:t>Steam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60796-B46E-4AB7-AF84-32F5D10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9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bc09a30984b0f"/>
          <a:srcRect xmlns:a="http://schemas.openxmlformats.org/drawingml/2006/main" l="142" t="0" r="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47900"/>
            <a:ext cx="2971800" cy="16764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866CC-AD65-4282-800F-12A62323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FF6"/>
                </a:solidFill>
              </a:defRPr>
            </a:pPr>
            <a:r>
              <a:rPr sz="1500" b="1">
                <a:solidFill>
                  <a:srgbClr val="F3FFF6"/>
                </a:solidFill>
              </a:rPr>
              <a:t>Игровые предметы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0DB29-C16F-4AF2-B9F0-C617621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9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d44abd7624c11"/>
          <a:srcRect xmlns:a="http://schemas.openxmlformats.org/drawingml/2006/main" l="142" t="0" r="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247900"/>
            <a:ext cx="2971800" cy="16764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45C78-283E-450D-AD71-C8569C10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FF6"/>
                </a:solidFill>
              </a:defRPr>
            </a:pPr>
            <a:r>
              <a:rPr sz="1500" b="1">
                <a:solidFill>
                  <a:srgbClr val="F3FFF6"/>
                </a:solidFill>
              </a:rPr>
              <a:t>Ключи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0EBA4-2425-47B6-B22C-83B132DA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3FFF6"/>
                </a:solidFill>
              </a:defRPr>
            </a:pPr>
            <a:r>
              <a:rPr sz="1800" b="0">
                <a:solidFill>
                  <a:srgbClr val="F3FFF6"/>
                </a:solidFill>
              </a:rPr>
              <a:t>Последнее обновление: вставка картинок через Ctrl+V и удаление ошибочно выбранной картинки до отправки на модерацию.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C6D6-71F1-4F46-B951-37659147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4</a:t>
            </a:r>
          </a:p>
        </p:txBody>
      </p:sp>
    </p:spTree>
    <p:extLst>
      <p:ext uri="{BB962C8B-B14F-4D97-AF65-F5344CB8AC3E}">
        <p14:creationId xmlns:p14="http://schemas.microsoft.com/office/powerpoint/2010/main" val="1688448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548F2-76FA-4FBE-8D55-8FC57E08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Чаты и уведомления работают без обновления страницы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DF0F0-8044-415A-82DD-D27D40F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476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F19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B0AE7-16CC-4AC9-98A6-24A3AD7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86A"/>
                </a:solidFill>
              </a:defRPr>
            </a:pPr>
            <a:r>
              <a:rPr sz="2250" b="1">
                <a:solidFill>
                  <a:srgbClr val="45D86A"/>
                </a:solidFill>
              </a:rPr>
              <a:t>SignalR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5CD50-716E-42AF-BE44-8477DA85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сообщения покупателя и продавца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083AF-C09E-4045-823A-5642A97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мини-чат поддержки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FACEA-0A57-465E-B076-41E5744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уведомления о заказах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B5591-1D0F-4F19-A448-A001AAB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споры и модерация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9480F-1C7A-457C-B264-A61358C2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звук и toast-уведомления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AB601-6E04-44C8-96EE-983FAFB6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E34A8-9F44-472A-83EB-58E8FEDC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Поведение чатов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41959-4331-4B1C-BAAA-771B35F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чат сделки открывается после первого сообщения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F36DB-C19D-43D7-BF09-243EE6F5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закрытый чат можно открыть повторной покупкой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39CC4-9826-424C-8057-95259254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поддержка становится приватной после ответа сотрудника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DBEC8-F5B5-44D5-8AF9-DA30E7F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закрытые чаты можно удалить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F0586-1E13-4B1B-BA80-A3BEC9AF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5</a:t>
            </a:r>
          </a:p>
        </p:txBody>
      </p:sp>
    </p:spTree>
    <p:extLst>
      <p:ext uri="{BB962C8B-B14F-4D97-AF65-F5344CB8AC3E}">
        <p14:creationId xmlns:p14="http://schemas.microsoft.com/office/powerpoint/2010/main" val="1041296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68E2A-9B73-4560-8A15-8E4F964B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Роли разделяют обычные действия и управление платформой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9CFD7-6392-4FAA-A781-FA2B90D2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61B0B-646A-4DDE-9CFB-BB6BD6B3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D86A"/>
                </a:solidFill>
              </a:defRPr>
            </a:pPr>
            <a:r>
              <a:rPr sz="2100" b="1">
                <a:solidFill>
                  <a:srgbClr val="45D86A"/>
                </a:solidFill>
              </a:rPr>
              <a:t>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69616-DE5D-471C-8AF3-E285578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9C8"/>
                </a:solidFill>
              </a:defRPr>
            </a:pPr>
            <a:r>
              <a:rPr sz="1500" b="0">
                <a:solidFill>
                  <a:srgbClr val="9FB9C8"/>
                </a:solidFill>
              </a:rPr>
              <a:t>покупки, чаты, избранное, отзывы, история заказов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CFA8C-35E6-4F64-96BE-B8FCA26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2A954-D77A-4544-ACC3-4B4D56A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D86A"/>
                </a:solidFill>
              </a:defRPr>
            </a:pPr>
            <a:r>
              <a:rPr sz="2100" b="1">
                <a:solidFill>
                  <a:srgbClr val="45D86A"/>
                </a:solidFill>
              </a:rPr>
              <a:t>Seller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8B670-814C-4A5F-9D4C-B4C725D2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9C8"/>
                </a:solidFill>
              </a:defRPr>
            </a:pPr>
            <a:r>
              <a:rPr sz="1500" b="0">
                <a:solidFill>
                  <a:srgbClr val="9FB9C8"/>
                </a:solidFill>
              </a:rPr>
              <a:t>создание товаров, заказы, чаты, спор о выплате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38CBF-15DE-4202-AC89-F0D8893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0C3C3-DF2F-47D6-9921-80EC103A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D86A"/>
                </a:solidFill>
              </a:defRPr>
            </a:pPr>
            <a:r>
              <a:rPr sz="2100" b="1">
                <a:solidFill>
                  <a:srgbClr val="45D86A"/>
                </a:solidFill>
              </a:rPr>
              <a:t>Moderator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A3694-5E60-4789-AE7F-6F0BD0A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9C8"/>
                </a:solidFill>
              </a:defRPr>
            </a:pPr>
            <a:r>
              <a:rPr sz="1500" b="0">
                <a:solidFill>
                  <a:srgbClr val="9FB9C8"/>
                </a:solidFill>
              </a:rPr>
              <a:t>модерация объявлений, поддержка, просмотр пользователей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9C093-3DCF-4257-B6F7-7E23AD5A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020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98CA4-E755-430E-AA3E-3B8156A5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F28E"/>
                </a:solidFill>
              </a:defRPr>
            </a:pPr>
            <a:r>
              <a:rPr sz="2100" b="1">
                <a:solidFill>
                  <a:srgbClr val="7AF28E"/>
                </a:solidFill>
              </a:rPr>
              <a:t>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CBD71-48EE-4EF2-9F51-A33AAB3B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38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9C8"/>
                </a:solidFill>
              </a:defRPr>
            </a:pPr>
            <a:r>
              <a:rPr sz="1500" b="0">
                <a:solidFill>
                  <a:srgbClr val="9FB9C8"/>
                </a:solidFill>
              </a:rPr>
              <a:t>роли, балансы, промокоды, ограничения и полное управление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E91ED-3E27-435E-A7C2-7CDBCF1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6</a:t>
            </a:r>
          </a:p>
        </p:txBody>
      </p:sp>
    </p:spTree>
    <p:extLst>
      <p:ext uri="{BB962C8B-B14F-4D97-AF65-F5344CB8AC3E}">
        <p14:creationId xmlns:p14="http://schemas.microsoft.com/office/powerpoint/2010/main" val="166813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B7240A-260A-427C-AC43-4D6D85A3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Админка показывает, что проект не ограничен витриной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3F9A7-F613-4436-ACB7-C1AD065B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FB9C8"/>
                </a:solidFill>
              </a:defRPr>
            </a:pPr>
            <a:r>
              <a:rPr sz="1650" b="0">
                <a:solidFill>
                  <a:srgbClr val="9FB9C8"/>
                </a:solidFill>
              </a:rPr>
              <a:t>Есть реальные административные сценарии, которые обычно спрашивают на защите: роли, баланс, модерация и ограничения.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29178-AD78-4831-9759-9DDC940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1051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EFF88-954B-4AFC-BF16-B7B50997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5D86A"/>
                </a:solidFill>
              </a:defRPr>
            </a:pPr>
            <a:r>
              <a:rPr sz="2025" b="1">
                <a:solidFill>
                  <a:srgbClr val="45D86A"/>
                </a:solidFill>
              </a:rPr>
              <a:t>Пользователи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6E5A8-0B3B-4077-8989-5A43061E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просмотр всех аккаунтов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22044-BFC2-4BAB-B604-7BFF1EA8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переход в профиль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2BCCD-6283-4A7F-9133-B7417B35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написать пользователю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2F28A-F32D-41C4-9A68-76253BC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1051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6994E-93C2-4901-9CE7-FC53E9E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BDF8"/>
                </a:solidFill>
              </a:defRPr>
            </a:pPr>
            <a:r>
              <a:rPr sz="2025" b="1">
                <a:solidFill>
                  <a:srgbClr val="38BDF8"/>
                </a:solidFill>
              </a:rPr>
              <a:t>Управление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9BB55-1B8E-427C-88F7-AEEF34C4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роли и продавцы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5EBD2-DB62-4CF4-B6EA-2CFB0604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баланс VT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48D70-C22D-46BB-B0A6-F859965E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промокоды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42DEA-702C-4FDD-9898-9412F405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31051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C2389-2B0D-465F-B43D-BC837A9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5D86A"/>
                </a:solidFill>
              </a:defRPr>
            </a:pPr>
            <a:r>
              <a:rPr sz="2025" b="1">
                <a:solidFill>
                  <a:srgbClr val="45D86A"/>
                </a:solidFill>
              </a:rPr>
              <a:t>Контроль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490B8-5FD7-4963-B307-86793DC8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модерация товаров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4FC0F-EC0A-4DD2-B9BC-7374A01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споры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4F630-F378-4139-837C-82A6CEF5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• временные 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30A7C-6774-412E-9D04-35256D93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7</a:t>
            </a:r>
          </a:p>
        </p:txBody>
      </p:sp>
    </p:spTree>
    <p:extLst>
      <p:ext uri="{BB962C8B-B14F-4D97-AF65-F5344CB8AC3E}">
        <p14:creationId xmlns:p14="http://schemas.microsoft.com/office/powerpoint/2010/main" val="1706671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E2544-C32D-4B73-93E6-788AC2A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Архитектура разделена на понятные слои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DED69-FC61-47E7-8E4F-FB56C93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904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338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0A081-D1CA-4362-A783-071FE56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552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</a:defRPr>
            </a:pPr>
            <a:r>
              <a:rPr sz="1650" b="1">
                <a:solidFill>
                  <a:srgbClr val="38BDF8"/>
                </a:solidFill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F48E5-45A5-4C52-BC81-BB4C31F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React, TypeScript, Vite, MUI, Redux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CBAEF-A602-4612-8228-C38614EE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904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1EDB0-7099-4084-AE4F-DD3CB6CA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52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D86A"/>
                </a:solidFill>
              </a:defRPr>
            </a:pPr>
            <a:r>
              <a:rPr sz="1650" b="1">
                <a:solidFill>
                  <a:srgbClr val="45D86A"/>
                </a:solidFill>
              </a:rPr>
              <a:t>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79AAD-0AD2-4B9D-A160-50B6E675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Controllers, JWT, CORS, SignalR hubs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01A32-0A64-4680-A2C9-DE479515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904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E2ACA-FC0F-472E-9E4A-5111F523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527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D86A"/>
                </a:solidFill>
              </a:defRPr>
            </a:pPr>
            <a:r>
              <a:rPr sz="1650" b="1">
                <a:solidFill>
                  <a:srgbClr val="45D86A"/>
                </a:solidFill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9E5A7-0FFE-44A2-8288-4618734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сервисы, DTO, бизнес-правила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A210D-CB55-4E79-BD89-15AEA1B4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904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72B8D-3D0A-437A-9EC6-BC9B5BEF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52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D86A"/>
                </a:solidFill>
              </a:defRPr>
            </a:pPr>
            <a:r>
              <a:rPr sz="1650" b="1">
                <a:solidFill>
                  <a:srgbClr val="45D86A"/>
                </a:solidFill>
              </a:rPr>
              <a:t>Domain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58EB9-4D23-46A8-9D89-D105835B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сущности, роли, статусы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A0D44-9EF6-44C9-8D25-C04C676D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904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3020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D8E96-33D5-4464-AE40-19F98F7E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529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D86A"/>
                </a:solidFill>
              </a:defRPr>
            </a:pPr>
            <a:r>
              <a:rPr sz="1650" b="1">
                <a:solidFill>
                  <a:srgbClr val="45D86A"/>
                </a:solidFill>
              </a:rPr>
              <a:t>Infrastructure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CD45C-2E7B-468C-AA6F-B397D75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FF6"/>
                </a:solidFill>
              </a:defRPr>
            </a:pPr>
            <a:r>
              <a:rPr sz="1575" b="0">
                <a:solidFill>
                  <a:srgbClr val="F3FFF6"/>
                </a:solidFill>
              </a:rPr>
              <a:t>EF Core, PostgreSQL, email, seed, migrations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750AF-5C13-4CDF-8F0F-C6CF80B4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FB9C8"/>
                </a:solidFill>
              </a:defRPr>
            </a:pPr>
            <a:r>
              <a:rPr sz="1575" b="0">
                <a:solidFill>
                  <a:srgbClr val="9FB9C8"/>
                </a:solidFill>
              </a:rPr>
              <a:t>Так проще объяснить код: UI вызывает API, API передает работу сервисам, сервисы меняют доменную модель и сохраняют данные через инфраструктуру.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70433-1375-43BF-B4DC-71910735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8</a:t>
            </a:r>
          </a:p>
        </p:txBody>
      </p:sp>
    </p:spTree>
    <p:extLst>
      <p:ext uri="{BB962C8B-B14F-4D97-AF65-F5344CB8AC3E}">
        <p14:creationId xmlns:p14="http://schemas.microsoft.com/office/powerpoint/2010/main" val="9724207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3720CF-01D6-4F94-8584-AC00CE2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Проект развернут как реальное web-приложение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40AC1-5270-4BC4-B377-094DE30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FCD14-690A-423C-9031-ABAF151E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Vercel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0ACCF-FD20-41B6-89F8-4A207A5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frontend: React build из папки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5C981-4F30-4340-9043-DC24C7A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E8CCD-A6B1-4EAB-A50B-8F4CAB4F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Render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AA1B2-6F78-438F-845D-1A9897A7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backend: Docker, ASP.NET Core, порт 8080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F460-9669-4464-93A4-5B3090B7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796B8-D6C4-4512-B62F-C333838E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4DD1A-0586-4FDD-B140-01A44523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таблицы, миграции и seed 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17766-F5D7-44EA-AC31-38FE1C5E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50AA5-0E3B-4ACA-AE4C-03CE1907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Brevo SMTP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8668D-D3A4-4949-A0E7-EAD1B136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письма для восстановления пароля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60194-4855-47AB-8212-2071F568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6589E-F92C-409B-A90A-51C0B993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Google + Telegram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586F3-DBE2-4AFB-8DE3-DB0A7D83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9C8"/>
                </a:solidFill>
              </a:defRPr>
            </a:pPr>
            <a:r>
              <a:rPr sz="1350" b="0">
                <a:solidFill>
                  <a:srgbClr val="9FB9C8"/>
                </a:solidFill>
              </a:rPr>
              <a:t>быстрый вход через внешние аккаунты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BE381-DF4D-4520-87B1-81AF4FB5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9</a:t>
            </a:r>
          </a:p>
        </p:txBody>
      </p:sp>
    </p:spTree>
    <p:extLst>
      <p:ext uri="{BB962C8B-B14F-4D97-AF65-F5344CB8AC3E}">
        <p14:creationId xmlns:p14="http://schemas.microsoft.com/office/powerpoint/2010/main" val="9320386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2A030-4B58-4779-8D1A-389D1560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6"/>
                </a:solidFill>
              </a:defRPr>
            </a:pPr>
            <a:r>
              <a:rPr sz="2850" b="1">
                <a:solidFill>
                  <a:srgbClr val="F3FFF6"/>
                </a:solidFill>
              </a:rPr>
              <a:t>На защите лучше показать один цельный путь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45B60-C448-4CBA-9389-4DF784FA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4CF93-C694-4898-B430-7AFD097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621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FF6"/>
                </a:solidFill>
              </a:defRPr>
            </a:pPr>
            <a:r>
              <a:rPr sz="1800" b="0">
                <a:solidFill>
                  <a:srgbClr val="F3FFF6"/>
                </a:solidFill>
              </a:rPr>
              <a:t>войти или зарегистрироваться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41F8C-400E-4A91-B9E5-319A73AD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38791-FCC9-4866-99EE-95F7722C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09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FF6"/>
                </a:solidFill>
              </a:defRPr>
            </a:pPr>
            <a:r>
              <a:rPr sz="1800" b="0">
                <a:solidFill>
                  <a:srgbClr val="F3FFF6"/>
                </a:solidFill>
              </a:rPr>
              <a:t>открыть каталог и страницу товара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D76B8-5E5B-40D2-ABD8-188689FC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CCBF2-2F77-4DF0-B012-E18D680E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FF6"/>
                </a:solidFill>
              </a:defRPr>
            </a:pPr>
            <a:r>
              <a:rPr sz="1800" b="0">
                <a:solidFill>
                  <a:srgbClr val="F3FFF6"/>
                </a:solidFill>
              </a:rPr>
              <a:t>написать продавцу и увидеть уведомление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25B1B-107A-4785-831F-7E61C00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1ABF3-8678-4838-A43B-133F1D7C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052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FF6"/>
                </a:solidFill>
              </a:defRPr>
            </a:pPr>
            <a:r>
              <a:rPr sz="1800" b="0">
                <a:solidFill>
                  <a:srgbClr val="F3FFF6"/>
                </a:solidFill>
              </a:rPr>
              <a:t>создать заказ и подтвердить товар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34B1F-A585-40D6-B129-81F4DCA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E709B-3B0E-4F76-92C9-6BBF680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529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FF6"/>
                </a:solidFill>
              </a:defRPr>
            </a:pPr>
            <a:r>
              <a:rPr sz="1800" b="0">
                <a:solidFill>
                  <a:srgbClr val="F3FFF6"/>
                </a:solidFill>
              </a:rPr>
              <a:t>оставить отзыв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61630-8076-4B8A-8554-44930E45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86A"/>
                </a:solidFill>
              </a:defRPr>
            </a:pPr>
            <a:r>
              <a:rPr sz="1800" b="1">
                <a:solidFill>
                  <a:srgbClr val="45D86A"/>
                </a:solidFill>
              </a:rPr>
              <a:t>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9DFE2-4903-4388-910E-BC33167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FF6"/>
                </a:solidFill>
              </a:defRPr>
            </a:pPr>
            <a:r>
              <a:rPr sz="1800" b="0">
                <a:solidFill>
                  <a:srgbClr val="F3FFF6"/>
                </a:solidFill>
              </a:rPr>
              <a:t>зайти в админку и показать модерацию, роли, баланс, ограничения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41080-730F-43E7-9373-B797ACAA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AF28E"/>
                </a:solidFill>
              </a:defRPr>
            </a:pPr>
            <a:r>
              <a:rPr sz="1800" b="1">
                <a:solidFill>
                  <a:srgbClr val="7AF28E"/>
                </a:solidFill>
              </a:rPr>
              <a:t>Главный вывод: это не только дизайн, а законченный marketplace-сценарий с backend-логикой, ролями, real-time и деплоем.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6344C-BC3D-4052-B1ED-584FC23E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808E"/>
                </a:solidFill>
              </a:defRPr>
            </a:pPr>
            <a:r>
              <a:rPr sz="975" b="0">
                <a:solidFill>
                  <a:srgbClr val="66808E"/>
                </a:solidFill>
              </a:rPr>
              <a:t>VaultTrade / защита проекта / 10</a:t>
            </a:r>
          </a:p>
        </p:txBody>
      </p:sp>
    </p:spTree>
    <p:extLst>
      <p:ext uri="{BB962C8B-B14F-4D97-AF65-F5344CB8AC3E}">
        <p14:creationId xmlns:p14="http://schemas.microsoft.com/office/powerpoint/2010/main" val="1200358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2026-08-21T00:08:51.7530000Z</dcterms:created>
  <dcterms:modified xsi:type="dcterms:W3CDTF">2026-08-21T00:08:51.7530000Z</dcterms:modified>
</coreProperties>
</file>