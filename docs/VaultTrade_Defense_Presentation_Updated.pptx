
<file path=[Content_Types].xml><?xml version="1.0" encoding="utf-8"?>
<Types xmlns="http://schemas.openxmlformats.org/package/2006/content-types">
  <Default Extension="bin" ContentType="image/unknown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bin"/><Relationship Id="rId4" Type="http://schemas.openxmlformats.org/officeDocument/2006/relationships/image" Target="../media/image2.bin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E02F997E-AE69-459F-AAE4-1DD07C66AC2A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4953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350" b="1">
                <a:solidFill>
                  <a:srgbClr val="F3FFF6"/>
                </a:solidFill>
              </a:defRPr>
            </a:pPr>
            <a:r>
              <a:rPr sz="4350" b="1">
                <a:solidFill>
                  <a:srgbClr val="F3FFF6"/>
                </a:solidFill>
              </a:rPr>
              <a:t>VaultTrade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AF39C80-34EF-4B5A-96FA-E246B459A608}"/>
              </a:ext>
            </a:extLst>
          </p:cNvPr>
          <p:cNvSpPr>
            <a:spLocks noGrp="1"/>
          </p:cNvSpPr>
          <p:nvPr/>
        </p:nvSpPr>
        <p:spPr>
          <a:xfrm>
            <a:off x="704850" y="1504950"/>
            <a:ext cx="64579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0">
                <a:solidFill>
                  <a:srgbClr val="9FB9C8"/>
                </a:solidFill>
              </a:defRPr>
            </a:pPr>
            <a:r>
              <a:rPr sz="1875" b="0" dirty="0" err="1">
                <a:solidFill>
                  <a:srgbClr val="9FB9C8"/>
                </a:solidFill>
              </a:rPr>
              <a:t>Маркетплейс</a:t>
            </a:r>
            <a:r>
              <a:rPr sz="1875" b="0" dirty="0">
                <a:solidFill>
                  <a:srgbClr val="9FB9C8"/>
                </a:solidFill>
              </a:rPr>
              <a:t> </a:t>
            </a:r>
            <a:r>
              <a:rPr sz="1875" b="0" dirty="0" err="1">
                <a:solidFill>
                  <a:srgbClr val="9FB9C8"/>
                </a:solidFill>
              </a:rPr>
              <a:t>цифровых</a:t>
            </a:r>
            <a:r>
              <a:rPr sz="1875" b="0" dirty="0">
                <a:solidFill>
                  <a:srgbClr val="9FB9C8"/>
                </a:solidFill>
              </a:rPr>
              <a:t> </a:t>
            </a:r>
            <a:r>
              <a:rPr sz="1875" b="0" dirty="0" err="1">
                <a:solidFill>
                  <a:srgbClr val="9FB9C8"/>
                </a:solidFill>
              </a:rPr>
              <a:t>товаров</a:t>
            </a:r>
            <a:r>
              <a:rPr sz="1875" b="0" dirty="0">
                <a:solidFill>
                  <a:srgbClr val="9FB9C8"/>
                </a:solidFill>
              </a:rPr>
              <a:t> с </a:t>
            </a:r>
            <a:r>
              <a:rPr sz="1875" b="0" dirty="0" err="1">
                <a:solidFill>
                  <a:srgbClr val="9FB9C8"/>
                </a:solidFill>
              </a:rPr>
              <a:t>безопасной</a:t>
            </a:r>
            <a:r>
              <a:rPr sz="1875" b="0" dirty="0">
                <a:solidFill>
                  <a:srgbClr val="9FB9C8"/>
                </a:solidFill>
              </a:rPr>
              <a:t> </a:t>
            </a:r>
            <a:r>
              <a:rPr sz="1875" b="0" dirty="0" err="1">
                <a:solidFill>
                  <a:srgbClr val="9FB9C8"/>
                </a:solidFill>
              </a:rPr>
              <a:t>сделкой</a:t>
            </a:r>
            <a:r>
              <a:rPr sz="1875" b="0" dirty="0">
                <a:solidFill>
                  <a:srgbClr val="9FB9C8"/>
                </a:solidFill>
              </a:rPr>
              <a:t>, </a:t>
            </a:r>
            <a:r>
              <a:rPr sz="1875" b="0" dirty="0" err="1">
                <a:solidFill>
                  <a:srgbClr val="9FB9C8"/>
                </a:solidFill>
              </a:rPr>
              <a:t>чатами</a:t>
            </a:r>
            <a:r>
              <a:rPr sz="1875" b="0" dirty="0">
                <a:solidFill>
                  <a:srgbClr val="9FB9C8"/>
                </a:solidFill>
              </a:rPr>
              <a:t>, </a:t>
            </a:r>
            <a:r>
              <a:rPr sz="1875" b="0" dirty="0" err="1">
                <a:solidFill>
                  <a:srgbClr val="9FB9C8"/>
                </a:solidFill>
              </a:rPr>
              <a:t>модерацией</a:t>
            </a:r>
            <a:r>
              <a:rPr sz="1875" b="0" dirty="0">
                <a:solidFill>
                  <a:srgbClr val="9FB9C8"/>
                </a:solidFill>
              </a:rPr>
              <a:t> и </a:t>
            </a:r>
            <a:r>
              <a:rPr sz="1875" b="0" dirty="0" err="1">
                <a:solidFill>
                  <a:srgbClr val="9FB9C8"/>
                </a:solidFill>
              </a:rPr>
              <a:t>виртуальной</a:t>
            </a:r>
            <a:r>
              <a:rPr sz="1875" b="0" dirty="0">
                <a:solidFill>
                  <a:srgbClr val="9FB9C8"/>
                </a:solidFill>
              </a:rPr>
              <a:t> </a:t>
            </a:r>
            <a:r>
              <a:rPr sz="1875" b="0" dirty="0" err="1">
                <a:solidFill>
                  <a:srgbClr val="9FB9C8"/>
                </a:solidFill>
              </a:rPr>
              <a:t>валютой</a:t>
            </a:r>
            <a:endParaRPr sz="1875" b="0" dirty="0">
              <a:solidFill>
                <a:srgbClr val="9FB9C8"/>
              </a:solidFill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4CB2BAF-C4A4-450F-96F2-A64CD2BCF147}"/>
              </a:ext>
            </a:extLst>
          </p:cNvPr>
          <p:cNvSpPr>
            <a:spLocks noGrp="1"/>
          </p:cNvSpPr>
          <p:nvPr/>
        </p:nvSpPr>
        <p:spPr>
          <a:xfrm>
            <a:off x="704850" y="2628900"/>
            <a:ext cx="2000250" cy="361950"/>
          </a:xfrm>
          <a:prstGeom prst="roundRect">
            <a:avLst>
              <a:gd name="adj" fmla="val 50000"/>
            </a:avLst>
          </a:prstGeom>
          <a:solidFill>
            <a:srgbClr val="13231A"/>
          </a:solidFill>
          <a:ln w="9525">
            <a:solidFill>
              <a:srgbClr val="45D86A"/>
            </a:solidFill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45D86A"/>
                </a:solidFill>
              </a:defRPr>
            </a:pPr>
            <a:r>
              <a:rPr sz="1200" b="1">
                <a:solidFill>
                  <a:srgbClr val="45D86A"/>
                </a:solidFill>
              </a:rPr>
              <a:t>React + ASP.NET Core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8C23E4A7-BCF4-4402-8B09-2559842D647F}"/>
              </a:ext>
            </a:extLst>
          </p:cNvPr>
          <p:cNvSpPr>
            <a:spLocks noGrp="1"/>
          </p:cNvSpPr>
          <p:nvPr/>
        </p:nvSpPr>
        <p:spPr>
          <a:xfrm>
            <a:off x="2876550" y="2628900"/>
            <a:ext cx="1381125" cy="361950"/>
          </a:xfrm>
          <a:prstGeom prst="roundRect">
            <a:avLst>
              <a:gd name="adj" fmla="val 50000"/>
            </a:avLst>
          </a:prstGeom>
          <a:solidFill>
            <a:srgbClr val="13231A"/>
          </a:solidFill>
          <a:ln w="9525">
            <a:solidFill>
              <a:srgbClr val="38BDF8"/>
            </a:solidFill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rPr sz="1200" b="1">
                <a:solidFill>
                  <a:srgbClr val="38BDF8"/>
                </a:solidFill>
              </a:rPr>
              <a:t>PostgreSQL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8859807C-3C54-495C-AB21-64EA655020D6}"/>
              </a:ext>
            </a:extLst>
          </p:cNvPr>
          <p:cNvSpPr>
            <a:spLocks noGrp="1"/>
          </p:cNvSpPr>
          <p:nvPr/>
        </p:nvSpPr>
        <p:spPr>
          <a:xfrm>
            <a:off x="4429125" y="2628900"/>
            <a:ext cx="1143000" cy="361950"/>
          </a:xfrm>
          <a:prstGeom prst="roundRect">
            <a:avLst>
              <a:gd name="adj" fmla="val 50000"/>
            </a:avLst>
          </a:prstGeom>
          <a:solidFill>
            <a:srgbClr val="13231A"/>
          </a:solidFill>
          <a:ln w="9525">
            <a:solidFill>
              <a:srgbClr val="FACC15"/>
            </a:solidFill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FACC15"/>
                </a:solidFill>
              </a:defRPr>
            </a:pPr>
            <a:r>
              <a:rPr sz="1200" b="1">
                <a:solidFill>
                  <a:srgbClr val="FACC15"/>
                </a:solidFill>
              </a:rPr>
              <a:t>SignalR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C7F49EA6-0A62-446C-B23E-EA4CB030E4C7}"/>
              </a:ext>
            </a:extLst>
          </p:cNvPr>
          <p:cNvSpPr>
            <a:spLocks noGrp="1"/>
          </p:cNvSpPr>
          <p:nvPr/>
        </p:nvSpPr>
        <p:spPr>
          <a:xfrm>
            <a:off x="7239000" y="800100"/>
            <a:ext cx="3714750" cy="4000500"/>
          </a:xfrm>
          <a:prstGeom prst="roundRect">
            <a:avLst>
              <a:gd name="adj" fmla="val 3077"/>
            </a:avLst>
          </a:prstGeom>
          <a:solidFill>
            <a:srgbClr val="0D1720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D1C6544-9313-446B-BEDE-500CEE8CA7E2}"/>
              </a:ext>
            </a:extLst>
          </p:cNvPr>
          <p:cNvSpPr>
            <a:spLocks noGrp="1"/>
          </p:cNvSpPr>
          <p:nvPr/>
        </p:nvSpPr>
        <p:spPr>
          <a:xfrm>
            <a:off x="7543800" y="1143000"/>
            <a:ext cx="3048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3FFF6"/>
                </a:solidFill>
              </a:defRPr>
            </a:pPr>
            <a:r>
              <a:rPr sz="1875" b="1">
                <a:solidFill>
                  <a:srgbClr val="F3FFF6"/>
                </a:solidFill>
              </a:rPr>
              <a:t>Что демонстрирует проект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A9155FC-684A-4AA8-BB80-89200105CE74}"/>
              </a:ext>
            </a:extLst>
          </p:cNvPr>
          <p:cNvSpPr>
            <a:spLocks noGrp="1"/>
          </p:cNvSpPr>
          <p:nvPr/>
        </p:nvSpPr>
        <p:spPr>
          <a:xfrm>
            <a:off x="7562850" y="1752600"/>
            <a:ext cx="428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45D86A"/>
                </a:solidFill>
              </a:defRPr>
            </a:pPr>
            <a:r>
              <a:rPr sz="1350" b="1">
                <a:solidFill>
                  <a:srgbClr val="45D86A"/>
                </a:solidFill>
              </a:rPr>
              <a:t>01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D505F57-F7AF-4BE1-8003-561208262A3C}"/>
              </a:ext>
            </a:extLst>
          </p:cNvPr>
          <p:cNvSpPr>
            <a:spLocks noGrp="1"/>
          </p:cNvSpPr>
          <p:nvPr/>
        </p:nvSpPr>
        <p:spPr>
          <a:xfrm>
            <a:off x="8096250" y="1724025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полный путь покупки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9CE1645-959B-470F-A154-E5A0066CC7E5}"/>
              </a:ext>
            </a:extLst>
          </p:cNvPr>
          <p:cNvSpPr>
            <a:spLocks noGrp="1"/>
          </p:cNvSpPr>
          <p:nvPr/>
        </p:nvSpPr>
        <p:spPr>
          <a:xfrm>
            <a:off x="7562850" y="2266950"/>
            <a:ext cx="428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45D86A"/>
                </a:solidFill>
              </a:defRPr>
            </a:pPr>
            <a:r>
              <a:rPr sz="1350" b="1">
                <a:solidFill>
                  <a:srgbClr val="45D86A"/>
                </a:solidFill>
              </a:rPr>
              <a:t>02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21E07DD-4E46-42C0-A157-C41601F952E2}"/>
              </a:ext>
            </a:extLst>
          </p:cNvPr>
          <p:cNvSpPr>
            <a:spLocks noGrp="1"/>
          </p:cNvSpPr>
          <p:nvPr/>
        </p:nvSpPr>
        <p:spPr>
          <a:xfrm>
            <a:off x="8096250" y="2238375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реальные роли и права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81794B1-8F2E-4000-84D3-7E3118AC1300}"/>
              </a:ext>
            </a:extLst>
          </p:cNvPr>
          <p:cNvSpPr>
            <a:spLocks noGrp="1"/>
          </p:cNvSpPr>
          <p:nvPr/>
        </p:nvSpPr>
        <p:spPr>
          <a:xfrm>
            <a:off x="7562850" y="2781300"/>
            <a:ext cx="428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45D86A"/>
                </a:solidFill>
              </a:defRPr>
            </a:pPr>
            <a:r>
              <a:rPr sz="1350" b="1">
                <a:solidFill>
                  <a:srgbClr val="45D86A"/>
                </a:solidFill>
              </a:rPr>
              <a:t>03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BD8E500-E0AF-4A86-A914-D19F51CEF474}"/>
              </a:ext>
            </a:extLst>
          </p:cNvPr>
          <p:cNvSpPr>
            <a:spLocks noGrp="1"/>
          </p:cNvSpPr>
          <p:nvPr/>
        </p:nvSpPr>
        <p:spPr>
          <a:xfrm>
            <a:off x="8096250" y="2752725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модерация объявлений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083ADF4-D3F6-4070-85AA-A90CF4E9E5DC}"/>
              </a:ext>
            </a:extLst>
          </p:cNvPr>
          <p:cNvSpPr>
            <a:spLocks noGrp="1"/>
          </p:cNvSpPr>
          <p:nvPr/>
        </p:nvSpPr>
        <p:spPr>
          <a:xfrm>
            <a:off x="7562850" y="3295650"/>
            <a:ext cx="428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45D86A"/>
                </a:solidFill>
              </a:defRPr>
            </a:pPr>
            <a:r>
              <a:rPr sz="1350" b="1">
                <a:solidFill>
                  <a:srgbClr val="45D86A"/>
                </a:solidFill>
              </a:rPr>
              <a:t>04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6B95CE2-6106-4B67-A14A-BAE09A187F9F}"/>
              </a:ext>
            </a:extLst>
          </p:cNvPr>
          <p:cNvSpPr>
            <a:spLocks noGrp="1"/>
          </p:cNvSpPr>
          <p:nvPr/>
        </p:nvSpPr>
        <p:spPr>
          <a:xfrm>
            <a:off x="8096250" y="3267075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чаты и уведомления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B690A04-DCC9-45D6-B8A7-9BD5091BC2AD}"/>
              </a:ext>
            </a:extLst>
          </p:cNvPr>
          <p:cNvSpPr>
            <a:spLocks noGrp="1"/>
          </p:cNvSpPr>
          <p:nvPr/>
        </p:nvSpPr>
        <p:spPr>
          <a:xfrm>
            <a:off x="7562850" y="3810000"/>
            <a:ext cx="428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45D86A"/>
                </a:solidFill>
              </a:defRPr>
            </a:pPr>
            <a:r>
              <a:rPr sz="1350" b="1">
                <a:solidFill>
                  <a:srgbClr val="45D86A"/>
                </a:solidFill>
              </a:rPr>
              <a:t>05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67F6336-6C64-4494-8243-DE1E6E36A246}"/>
              </a:ext>
            </a:extLst>
          </p:cNvPr>
          <p:cNvSpPr>
            <a:spLocks noGrp="1"/>
          </p:cNvSpPr>
          <p:nvPr/>
        </p:nvSpPr>
        <p:spPr>
          <a:xfrm>
            <a:off x="8096250" y="3781425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деплой Render + Vercel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E4082B0-FCBC-47C4-AC93-7A60F5446A70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66808E"/>
                </a:solidFill>
              </a:defRPr>
            </a:pPr>
            <a:r>
              <a:rPr sz="975" b="0">
                <a:solidFill>
                  <a:srgbClr val="66808E"/>
                </a:solidFill>
              </a:rPr>
              <a:t>VaultTrade / защита проекта / 1</a:t>
            </a:r>
          </a:p>
        </p:txBody>
      </p:sp>
    </p:spTree>
    <p:extLst>
      <p:ext uri="{BB962C8B-B14F-4D97-AF65-F5344CB8AC3E}">
        <p14:creationId xmlns:p14="http://schemas.microsoft.com/office/powerpoint/2010/main" val="19793398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D28E433-1567-455B-966F-227A9AE0E937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9525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3FFF6"/>
                </a:solidFill>
              </a:defRPr>
            </a:pPr>
            <a:r>
              <a:rPr sz="2850" b="1">
                <a:solidFill>
                  <a:srgbClr val="F3FFF6"/>
                </a:solidFill>
              </a:rPr>
              <a:t>Проблема: цифровой товар сложно купить безопасно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416FCC5-6785-4C3B-BE41-B7AD2AEFC80D}"/>
              </a:ext>
            </a:extLst>
          </p:cNvPr>
          <p:cNvSpPr>
            <a:spLocks noGrp="1"/>
          </p:cNvSpPr>
          <p:nvPr/>
        </p:nvSpPr>
        <p:spPr>
          <a:xfrm>
            <a:off x="704850" y="1162050"/>
            <a:ext cx="9048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9FB9C8"/>
                </a:solidFill>
              </a:defRPr>
            </a:pPr>
            <a:r>
              <a:rPr sz="1650" b="0">
                <a:solidFill>
                  <a:srgbClr val="9FB9C8"/>
                </a:solidFill>
              </a:rPr>
              <a:t>Покупатель хочет проверить товар до списания средств, продавец хочет понимать статус сделки, а платформа должна контролировать риски.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6BC7C155-C372-42E0-A9F3-3E8A6DB3A50A}"/>
              </a:ext>
            </a:extLst>
          </p:cNvPr>
          <p:cNvSpPr>
            <a:spLocks noGrp="1"/>
          </p:cNvSpPr>
          <p:nvPr/>
        </p:nvSpPr>
        <p:spPr>
          <a:xfrm>
            <a:off x="685800" y="2305050"/>
            <a:ext cx="3276600" cy="2190750"/>
          </a:xfrm>
          <a:prstGeom prst="roundRect">
            <a:avLst>
              <a:gd name="adj" fmla="val 5217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95BFBC0-A4A9-48C7-9054-393E45117951}"/>
              </a:ext>
            </a:extLst>
          </p:cNvPr>
          <p:cNvSpPr>
            <a:spLocks noGrp="1"/>
          </p:cNvSpPr>
          <p:nvPr/>
        </p:nvSpPr>
        <p:spPr>
          <a:xfrm>
            <a:off x="952500" y="2647950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45D86A"/>
                </a:solidFill>
              </a:defRPr>
            </a:pPr>
            <a:r>
              <a:rPr sz="2025" b="1">
                <a:solidFill>
                  <a:srgbClr val="45D86A"/>
                </a:solidFill>
              </a:rPr>
              <a:t>Покупатель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3FF4077-9492-451E-8405-132B59AF7339}"/>
              </a:ext>
            </a:extLst>
          </p:cNvPr>
          <p:cNvSpPr>
            <a:spLocks noGrp="1"/>
          </p:cNvSpPr>
          <p:nvPr/>
        </p:nvSpPr>
        <p:spPr>
          <a:xfrm>
            <a:off x="952500" y="3181350"/>
            <a:ext cx="27241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9FB9C8"/>
                </a:solidFill>
              </a:defRPr>
            </a:pPr>
            <a:r>
              <a:rPr sz="1575" b="0">
                <a:solidFill>
                  <a:srgbClr val="9FB9C8"/>
                </a:solidFill>
              </a:rPr>
              <a:t>боится оплатить товар, который не получит или не сможет проверить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C1C0AA52-12B2-45A0-BE92-315236852F78}"/>
              </a:ext>
            </a:extLst>
          </p:cNvPr>
          <p:cNvSpPr>
            <a:spLocks noGrp="1"/>
          </p:cNvSpPr>
          <p:nvPr/>
        </p:nvSpPr>
        <p:spPr>
          <a:xfrm>
            <a:off x="4362450" y="2305050"/>
            <a:ext cx="3276600" cy="2190750"/>
          </a:xfrm>
          <a:prstGeom prst="roundRect">
            <a:avLst>
              <a:gd name="adj" fmla="val 5217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471A4A3-B7DC-4227-B203-9DC27EA12A00}"/>
              </a:ext>
            </a:extLst>
          </p:cNvPr>
          <p:cNvSpPr>
            <a:spLocks noGrp="1"/>
          </p:cNvSpPr>
          <p:nvPr/>
        </p:nvSpPr>
        <p:spPr>
          <a:xfrm>
            <a:off x="4629150" y="2647950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45D86A"/>
                </a:solidFill>
              </a:defRPr>
            </a:pPr>
            <a:r>
              <a:rPr sz="2025" b="1">
                <a:solidFill>
                  <a:srgbClr val="45D86A"/>
                </a:solidFill>
              </a:rPr>
              <a:t>Продавец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2863B46-2738-469E-B833-544EB6A40461}"/>
              </a:ext>
            </a:extLst>
          </p:cNvPr>
          <p:cNvSpPr>
            <a:spLocks noGrp="1"/>
          </p:cNvSpPr>
          <p:nvPr/>
        </p:nvSpPr>
        <p:spPr>
          <a:xfrm>
            <a:off x="4629150" y="3181350"/>
            <a:ext cx="27241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9FB9C8"/>
                </a:solidFill>
              </a:defRPr>
            </a:pPr>
            <a:r>
              <a:rPr sz="1575" b="0">
                <a:solidFill>
                  <a:srgbClr val="9FB9C8"/>
                </a:solidFill>
              </a:rPr>
              <a:t>ждет прозрачный заказ, чат и уведомления без ручной проверки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09AF23AA-B103-422E-BA7D-92B9E780565D}"/>
              </a:ext>
            </a:extLst>
          </p:cNvPr>
          <p:cNvSpPr>
            <a:spLocks noGrp="1"/>
          </p:cNvSpPr>
          <p:nvPr/>
        </p:nvSpPr>
        <p:spPr>
          <a:xfrm>
            <a:off x="8039100" y="2305050"/>
            <a:ext cx="3276600" cy="2190750"/>
          </a:xfrm>
          <a:prstGeom prst="roundRect">
            <a:avLst>
              <a:gd name="adj" fmla="val 5217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243C467-ED03-4314-ACE1-93041FB7160C}"/>
              </a:ext>
            </a:extLst>
          </p:cNvPr>
          <p:cNvSpPr>
            <a:spLocks noGrp="1"/>
          </p:cNvSpPr>
          <p:nvPr/>
        </p:nvSpPr>
        <p:spPr>
          <a:xfrm>
            <a:off x="8305800" y="2647950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45D86A"/>
                </a:solidFill>
              </a:defRPr>
            </a:pPr>
            <a:r>
              <a:rPr sz="2025" b="1">
                <a:solidFill>
                  <a:srgbClr val="45D86A"/>
                </a:solidFill>
              </a:rPr>
              <a:t>Платформа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41F54980-DA20-4CA6-A3ED-98F6C0EB1C8C}"/>
              </a:ext>
            </a:extLst>
          </p:cNvPr>
          <p:cNvSpPr>
            <a:spLocks noGrp="1"/>
          </p:cNvSpPr>
          <p:nvPr/>
        </p:nvSpPr>
        <p:spPr>
          <a:xfrm>
            <a:off x="8305800" y="3181350"/>
            <a:ext cx="27241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9FB9C8"/>
                </a:solidFill>
              </a:defRPr>
            </a:pPr>
            <a:r>
              <a:rPr sz="1575" b="0">
                <a:solidFill>
                  <a:srgbClr val="9FB9C8"/>
                </a:solidFill>
              </a:rPr>
              <a:t>должна модерировать товары, роли, споры и ограничения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DF08D91-E33B-499B-A13A-A6D7CE386C78}"/>
              </a:ext>
            </a:extLst>
          </p:cNvPr>
          <p:cNvSpPr>
            <a:spLocks noGrp="1"/>
          </p:cNvSpPr>
          <p:nvPr/>
        </p:nvSpPr>
        <p:spPr>
          <a:xfrm>
            <a:off x="1028700" y="5219700"/>
            <a:ext cx="9906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F3FFF6"/>
                </a:solidFill>
              </a:defRPr>
            </a:pPr>
            <a:r>
              <a:rPr sz="1875" b="1">
                <a:solidFill>
                  <a:srgbClr val="F3FFF6"/>
                </a:solidFill>
              </a:rPr>
              <a:t>VaultTrade решает это через резервирование, подтверждение заказа, real-time связь и роли модерации.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E391119-5E5E-44A3-BD26-29946C2EA0F4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66808E"/>
                </a:solidFill>
              </a:defRPr>
            </a:pPr>
            <a:r>
              <a:rPr sz="975" b="0">
                <a:solidFill>
                  <a:srgbClr val="66808E"/>
                </a:solidFill>
              </a:rPr>
              <a:t>VaultTrade / защита проекта / 2</a:t>
            </a:r>
          </a:p>
        </p:txBody>
      </p:sp>
    </p:spTree>
    <p:extLst>
      <p:ext uri="{BB962C8B-B14F-4D97-AF65-F5344CB8AC3E}">
        <p14:creationId xmlns:p14="http://schemas.microsoft.com/office/powerpoint/2010/main" val="7373798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B381BF-3EDF-49C6-94A7-46902F9CB886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9810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3FFF6"/>
                </a:solidFill>
              </a:defRPr>
            </a:pPr>
            <a:r>
              <a:rPr sz="2850" b="1">
                <a:solidFill>
                  <a:srgbClr val="F3FFF6"/>
                </a:solidFill>
              </a:rPr>
              <a:t>Ключевой сценарий построен вокруг безопасной сделки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CF34221A-CE15-40AC-A92B-710C62AE2979}"/>
              </a:ext>
            </a:extLst>
          </p:cNvPr>
          <p:cNvSpPr>
            <a:spLocks noGrp="1"/>
          </p:cNvSpPr>
          <p:nvPr/>
        </p:nvSpPr>
        <p:spPr>
          <a:xfrm>
            <a:off x="704850" y="1809750"/>
            <a:ext cx="1809750" cy="2476500"/>
          </a:xfrm>
          <a:prstGeom prst="roundRect">
            <a:avLst>
              <a:gd name="adj" fmla="val 6316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373BD47-75AA-4426-8264-2E816832EEA3}"/>
              </a:ext>
            </a:extLst>
          </p:cNvPr>
          <p:cNvSpPr>
            <a:spLocks noGrp="1"/>
          </p:cNvSpPr>
          <p:nvPr/>
        </p:nvSpPr>
        <p:spPr>
          <a:xfrm>
            <a:off x="895350" y="2038350"/>
            <a:ext cx="571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45D86A"/>
                </a:solidFill>
              </a:defRPr>
            </a:pPr>
            <a:r>
              <a:rPr sz="2550" b="1">
                <a:solidFill>
                  <a:srgbClr val="45D86A"/>
                </a:solidFill>
              </a:rPr>
              <a:t>1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4777A4F-10CC-49B3-A3D8-D39F7C1815A7}"/>
              </a:ext>
            </a:extLst>
          </p:cNvPr>
          <p:cNvSpPr>
            <a:spLocks noGrp="1"/>
          </p:cNvSpPr>
          <p:nvPr/>
        </p:nvSpPr>
        <p:spPr>
          <a:xfrm>
            <a:off x="895350" y="272415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3FFF6"/>
                </a:solidFill>
              </a:defRPr>
            </a:pPr>
            <a:r>
              <a:rPr sz="1875" b="1">
                <a:solidFill>
                  <a:srgbClr val="F3FFF6"/>
                </a:solidFill>
              </a:rPr>
              <a:t>Каталог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971620F-020F-45C5-A7E9-870AF421CA2D}"/>
              </a:ext>
            </a:extLst>
          </p:cNvPr>
          <p:cNvSpPr>
            <a:spLocks noGrp="1"/>
          </p:cNvSpPr>
          <p:nvPr/>
        </p:nvSpPr>
        <p:spPr>
          <a:xfrm>
            <a:off x="895350" y="3200400"/>
            <a:ext cx="1333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9FB9C8"/>
                </a:solidFill>
              </a:defRPr>
            </a:pPr>
            <a:r>
              <a:rPr sz="1350" b="0">
                <a:solidFill>
                  <a:srgbClr val="9FB9C8"/>
                </a:solidFill>
              </a:rPr>
              <a:t>покупатель выбирает товар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6734F404-6664-4303-94BE-82F661311EE5}"/>
              </a:ext>
            </a:extLst>
          </p:cNvPr>
          <p:cNvSpPr>
            <a:spLocks noGrp="1"/>
          </p:cNvSpPr>
          <p:nvPr/>
        </p:nvSpPr>
        <p:spPr>
          <a:xfrm>
            <a:off x="2914650" y="1809750"/>
            <a:ext cx="1809750" cy="2476500"/>
          </a:xfrm>
          <a:prstGeom prst="roundRect">
            <a:avLst>
              <a:gd name="adj" fmla="val 6316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0A2DF7C-5192-42BB-A4A3-716B89DE5417}"/>
              </a:ext>
            </a:extLst>
          </p:cNvPr>
          <p:cNvSpPr>
            <a:spLocks noGrp="1"/>
          </p:cNvSpPr>
          <p:nvPr/>
        </p:nvSpPr>
        <p:spPr>
          <a:xfrm>
            <a:off x="3105150" y="2038350"/>
            <a:ext cx="571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45D86A"/>
                </a:solidFill>
              </a:defRPr>
            </a:pPr>
            <a:r>
              <a:rPr sz="2550" b="1">
                <a:solidFill>
                  <a:srgbClr val="45D86A"/>
                </a:solidFill>
              </a:rPr>
              <a:t>2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8A63E10-EDC9-4A77-929D-22318CA84443}"/>
              </a:ext>
            </a:extLst>
          </p:cNvPr>
          <p:cNvSpPr>
            <a:spLocks noGrp="1"/>
          </p:cNvSpPr>
          <p:nvPr/>
        </p:nvSpPr>
        <p:spPr>
          <a:xfrm>
            <a:off x="3105150" y="272415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3FFF6"/>
                </a:solidFill>
              </a:defRPr>
            </a:pPr>
            <a:r>
              <a:rPr sz="1875" b="1">
                <a:solidFill>
                  <a:srgbClr val="F3FFF6"/>
                </a:solidFill>
              </a:rPr>
              <a:t>Заказ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46FCDBC-E6C0-4198-B569-90540B7223E5}"/>
              </a:ext>
            </a:extLst>
          </p:cNvPr>
          <p:cNvSpPr>
            <a:spLocks noGrp="1"/>
          </p:cNvSpPr>
          <p:nvPr/>
        </p:nvSpPr>
        <p:spPr>
          <a:xfrm>
            <a:off x="3105150" y="3200400"/>
            <a:ext cx="1333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9FB9C8"/>
                </a:solidFill>
              </a:defRPr>
            </a:pPr>
            <a:r>
              <a:rPr sz="1350" b="0">
                <a:solidFill>
                  <a:srgbClr val="9FB9C8"/>
                </a:solidFill>
              </a:rPr>
              <a:t>товар резервируется</a:t>
            </a: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BABB2ED7-5495-48FD-83C9-48C0F517C6AC}"/>
              </a:ext>
            </a:extLst>
          </p:cNvPr>
          <p:cNvSpPr>
            <a:spLocks noGrp="1"/>
          </p:cNvSpPr>
          <p:nvPr/>
        </p:nvSpPr>
        <p:spPr>
          <a:xfrm>
            <a:off x="5124450" y="1809750"/>
            <a:ext cx="1809750" cy="2476500"/>
          </a:xfrm>
          <a:prstGeom prst="roundRect">
            <a:avLst>
              <a:gd name="adj" fmla="val 6316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E1A78D6-DB85-4C8D-BCE0-5ED7FB0863F5}"/>
              </a:ext>
            </a:extLst>
          </p:cNvPr>
          <p:cNvSpPr>
            <a:spLocks noGrp="1"/>
          </p:cNvSpPr>
          <p:nvPr/>
        </p:nvSpPr>
        <p:spPr>
          <a:xfrm>
            <a:off x="5314950" y="2038350"/>
            <a:ext cx="571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45D86A"/>
                </a:solidFill>
              </a:defRPr>
            </a:pPr>
            <a:r>
              <a:rPr sz="2550" b="1">
                <a:solidFill>
                  <a:srgbClr val="45D86A"/>
                </a:solidFill>
              </a:rPr>
              <a:t>3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1DCFBB2-1797-45A4-B5A0-5B0724DA0E65}"/>
              </a:ext>
            </a:extLst>
          </p:cNvPr>
          <p:cNvSpPr>
            <a:spLocks noGrp="1"/>
          </p:cNvSpPr>
          <p:nvPr/>
        </p:nvSpPr>
        <p:spPr>
          <a:xfrm>
            <a:off x="5314950" y="272415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3FFF6"/>
                </a:solidFill>
              </a:defRPr>
            </a:pPr>
            <a:r>
              <a:rPr sz="1875" b="1">
                <a:solidFill>
                  <a:srgbClr val="F3FFF6"/>
                </a:solidFill>
              </a:rPr>
              <a:t>Проверка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DE0479D-C720-42A2-897B-D5EA9D2BF3BB}"/>
              </a:ext>
            </a:extLst>
          </p:cNvPr>
          <p:cNvSpPr>
            <a:spLocks noGrp="1"/>
          </p:cNvSpPr>
          <p:nvPr/>
        </p:nvSpPr>
        <p:spPr>
          <a:xfrm>
            <a:off x="5314950" y="3200400"/>
            <a:ext cx="1333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9FB9C8"/>
                </a:solidFill>
              </a:defRPr>
            </a:pPr>
            <a:r>
              <a:rPr sz="1350" b="0">
                <a:solidFill>
                  <a:srgbClr val="9FB9C8"/>
                </a:solidFill>
              </a:rPr>
              <a:t>баланс еще не списан</a:t>
            </a: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CAC20494-08D6-4155-8944-0A083895E41B}"/>
              </a:ext>
            </a:extLst>
          </p:cNvPr>
          <p:cNvSpPr>
            <a:spLocks noGrp="1"/>
          </p:cNvSpPr>
          <p:nvPr/>
        </p:nvSpPr>
        <p:spPr>
          <a:xfrm>
            <a:off x="7334250" y="1809750"/>
            <a:ext cx="1809750" cy="2476500"/>
          </a:xfrm>
          <a:prstGeom prst="roundRect">
            <a:avLst>
              <a:gd name="adj" fmla="val 6316"/>
            </a:avLst>
          </a:prstGeom>
          <a:solidFill>
            <a:srgbClr val="163323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F2E1284-02C9-43EF-AB7D-B34EC5264372}"/>
              </a:ext>
            </a:extLst>
          </p:cNvPr>
          <p:cNvSpPr>
            <a:spLocks noGrp="1"/>
          </p:cNvSpPr>
          <p:nvPr/>
        </p:nvSpPr>
        <p:spPr>
          <a:xfrm>
            <a:off x="7524750" y="2038350"/>
            <a:ext cx="571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7AF28E"/>
                </a:solidFill>
              </a:defRPr>
            </a:pPr>
            <a:r>
              <a:rPr sz="2550" b="1">
                <a:solidFill>
                  <a:srgbClr val="7AF28E"/>
                </a:solidFill>
              </a:rPr>
              <a:t>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63B255E-D734-43D4-A238-3D0D3E050090}"/>
              </a:ext>
            </a:extLst>
          </p:cNvPr>
          <p:cNvSpPr>
            <a:spLocks noGrp="1"/>
          </p:cNvSpPr>
          <p:nvPr/>
        </p:nvSpPr>
        <p:spPr>
          <a:xfrm>
            <a:off x="7524750" y="272415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3FFF6"/>
                </a:solidFill>
              </a:defRPr>
            </a:pPr>
            <a:r>
              <a:rPr sz="1875" b="1" dirty="0" err="1">
                <a:solidFill>
                  <a:srgbClr val="F3FFF6"/>
                </a:solidFill>
              </a:rPr>
              <a:t>Подтверждение</a:t>
            </a:r>
            <a:endParaRPr sz="1875" b="1" dirty="0">
              <a:solidFill>
                <a:srgbClr val="F3FFF6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4229060-AC68-44CA-9C75-0821C68861DC}"/>
              </a:ext>
            </a:extLst>
          </p:cNvPr>
          <p:cNvSpPr>
            <a:spLocks noGrp="1"/>
          </p:cNvSpPr>
          <p:nvPr/>
        </p:nvSpPr>
        <p:spPr>
          <a:xfrm>
            <a:off x="7524750" y="3314700"/>
            <a:ext cx="1333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9FB9C8"/>
                </a:solidFill>
              </a:defRPr>
            </a:pPr>
            <a:r>
              <a:rPr sz="1350" b="0" dirty="0">
                <a:solidFill>
                  <a:srgbClr val="9FB9C8"/>
                </a:solidFill>
              </a:rPr>
              <a:t>VT </a:t>
            </a:r>
            <a:r>
              <a:rPr sz="1350" b="0" dirty="0" err="1">
                <a:solidFill>
                  <a:srgbClr val="9FB9C8"/>
                </a:solidFill>
              </a:rPr>
              <a:t>списывается</a:t>
            </a:r>
            <a:r>
              <a:rPr sz="1350" b="0" dirty="0">
                <a:solidFill>
                  <a:srgbClr val="9FB9C8"/>
                </a:solidFill>
              </a:rPr>
              <a:t> и </a:t>
            </a:r>
            <a:r>
              <a:rPr sz="1350" b="0" dirty="0" err="1">
                <a:solidFill>
                  <a:srgbClr val="9FB9C8"/>
                </a:solidFill>
              </a:rPr>
              <a:t>начисляется</a:t>
            </a:r>
            <a:endParaRPr sz="1350" b="0" dirty="0">
              <a:solidFill>
                <a:srgbClr val="9FB9C8"/>
              </a:solidFill>
            </a:endParaRP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CAF86E04-23DF-41AB-933C-A1D83467D20A}"/>
              </a:ext>
            </a:extLst>
          </p:cNvPr>
          <p:cNvSpPr>
            <a:spLocks noGrp="1"/>
          </p:cNvSpPr>
          <p:nvPr/>
        </p:nvSpPr>
        <p:spPr>
          <a:xfrm>
            <a:off x="9544050" y="1809750"/>
            <a:ext cx="1809750" cy="2476500"/>
          </a:xfrm>
          <a:prstGeom prst="roundRect">
            <a:avLst>
              <a:gd name="adj" fmla="val 6316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4CEFE04-81C1-4000-B7BF-978B7D819788}"/>
              </a:ext>
            </a:extLst>
          </p:cNvPr>
          <p:cNvSpPr>
            <a:spLocks noGrp="1"/>
          </p:cNvSpPr>
          <p:nvPr/>
        </p:nvSpPr>
        <p:spPr>
          <a:xfrm>
            <a:off x="9734550" y="2038350"/>
            <a:ext cx="571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45D86A"/>
                </a:solidFill>
              </a:defRPr>
            </a:pPr>
            <a:r>
              <a:rPr sz="2550" b="1">
                <a:solidFill>
                  <a:srgbClr val="45D86A"/>
                </a:solidFill>
              </a:rPr>
              <a:t>5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CC66D145-86FA-4F71-BDB7-1AE1088A9BA0}"/>
              </a:ext>
            </a:extLst>
          </p:cNvPr>
          <p:cNvSpPr>
            <a:spLocks noGrp="1"/>
          </p:cNvSpPr>
          <p:nvPr/>
        </p:nvSpPr>
        <p:spPr>
          <a:xfrm>
            <a:off x="9734550" y="272415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3FFF6"/>
                </a:solidFill>
              </a:defRPr>
            </a:pPr>
            <a:r>
              <a:rPr sz="1875" b="1">
                <a:solidFill>
                  <a:srgbClr val="F3FFF6"/>
                </a:solidFill>
              </a:rPr>
              <a:t>Отзыв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59D02652-ABA0-4878-937B-821778ECBDE2}"/>
              </a:ext>
            </a:extLst>
          </p:cNvPr>
          <p:cNvSpPr>
            <a:spLocks noGrp="1"/>
          </p:cNvSpPr>
          <p:nvPr/>
        </p:nvSpPr>
        <p:spPr>
          <a:xfrm>
            <a:off x="9734550" y="3200400"/>
            <a:ext cx="1333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9FB9C8"/>
                </a:solidFill>
              </a:defRPr>
            </a:pPr>
            <a:r>
              <a:rPr sz="1350" b="0">
                <a:solidFill>
                  <a:srgbClr val="9FB9C8"/>
                </a:solidFill>
              </a:rPr>
              <a:t>репутация продавца растет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6B41D678-FE5E-429B-A6D0-1D440312155C}"/>
              </a:ext>
            </a:extLst>
          </p:cNvPr>
          <p:cNvSpPr>
            <a:spLocks noGrp="1"/>
          </p:cNvSpPr>
          <p:nvPr/>
        </p:nvSpPr>
        <p:spPr>
          <a:xfrm>
            <a:off x="914400" y="5105400"/>
            <a:ext cx="10363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7AF28E"/>
                </a:solidFill>
              </a:defRPr>
            </a:pPr>
            <a:r>
              <a:rPr sz="1875" b="1">
                <a:solidFill>
                  <a:srgbClr val="7AF28E"/>
                </a:solidFill>
              </a:rPr>
              <a:t>Главное отличие: покупка не равна моментальному списанию. Деньги переходят продавцу только после подтверждения товара.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5F004049-7900-446B-8808-908F421CDCB9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66808E"/>
                </a:solidFill>
              </a:defRPr>
            </a:pPr>
            <a:r>
              <a:rPr sz="975" b="0">
                <a:solidFill>
                  <a:srgbClr val="66808E"/>
                </a:solidFill>
              </a:rPr>
              <a:t>VaultTrade / защита проекта / 3</a:t>
            </a:r>
          </a:p>
        </p:txBody>
      </p:sp>
    </p:spTree>
    <p:extLst>
      <p:ext uri="{BB962C8B-B14F-4D97-AF65-F5344CB8AC3E}">
        <p14:creationId xmlns:p14="http://schemas.microsoft.com/office/powerpoint/2010/main" val="183280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06221BA-0F29-471E-BE1C-E367F1D6A949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9525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3FFF6"/>
                </a:solidFill>
              </a:defRPr>
            </a:pPr>
            <a:r>
              <a:rPr sz="2850" b="1">
                <a:solidFill>
                  <a:srgbClr val="F3FFF6"/>
                </a:solidFill>
              </a:rPr>
              <a:t>Каталог и объявления выглядят как полноценная витрина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E72128A-F565-41EC-AC38-8DB31B2B2A2C}"/>
              </a:ext>
            </a:extLst>
          </p:cNvPr>
          <p:cNvSpPr>
            <a:spLocks noGrp="1"/>
          </p:cNvSpPr>
          <p:nvPr/>
        </p:nvSpPr>
        <p:spPr>
          <a:xfrm>
            <a:off x="704850" y="1162050"/>
            <a:ext cx="942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9FB9C8"/>
                </a:solidFill>
              </a:defRPr>
            </a:pPr>
            <a:r>
              <a:rPr sz="1650" b="0">
                <a:solidFill>
                  <a:srgbClr val="9FB9C8"/>
                </a:solidFill>
              </a:rPr>
              <a:t>Продавец может создать товар, указать остаток, загрузить свои изображения или выбрать стоковую обложку под категорию.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29725B26-EBB2-4784-A68D-9C17329284CF}"/>
              </a:ext>
            </a:extLst>
          </p:cNvPr>
          <p:cNvSpPr>
            <a:spLocks noGrp="1"/>
          </p:cNvSpPr>
          <p:nvPr/>
        </p:nvSpPr>
        <p:spPr>
          <a:xfrm>
            <a:off x="723900" y="2095500"/>
            <a:ext cx="3276600" cy="2286000"/>
          </a:xfrm>
          <a:prstGeom prst="roundRect">
            <a:avLst>
              <a:gd name="adj" fmla="val 5000"/>
            </a:avLst>
          </a:prstGeom>
          <a:solidFill>
            <a:srgbClr val="0F19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rcRect l="142" r="142"/>
          <a:stretch>
            <a:fillRect/>
          </a:stretch>
        </p:blipFill>
        <p:spPr>
          <a:xfrm>
            <a:off x="876300" y="2247900"/>
            <a:ext cx="2971800" cy="1676400"/>
          </a:xfrm>
          <a:prstGeom prst="roundRect">
            <a:avLst>
              <a:gd name="adj" fmla="val 4545"/>
            </a:avLst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7941043-DDB2-4EB7-8CA3-63F2EB739E48}"/>
              </a:ext>
            </a:extLst>
          </p:cNvPr>
          <p:cNvSpPr>
            <a:spLocks noGrp="1"/>
          </p:cNvSpPr>
          <p:nvPr/>
        </p:nvSpPr>
        <p:spPr>
          <a:xfrm>
            <a:off x="914400" y="407670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3FFF6"/>
                </a:solidFill>
              </a:defRPr>
            </a:pPr>
            <a:r>
              <a:rPr sz="1500" b="1">
                <a:solidFill>
                  <a:srgbClr val="F3FFF6"/>
                </a:solidFill>
              </a:rPr>
              <a:t>Steam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2160796-B46E-4AB7-AF84-32F5D106C497}"/>
              </a:ext>
            </a:extLst>
          </p:cNvPr>
          <p:cNvSpPr>
            <a:spLocks noGrp="1"/>
          </p:cNvSpPr>
          <p:nvPr/>
        </p:nvSpPr>
        <p:spPr>
          <a:xfrm>
            <a:off x="4400550" y="2095500"/>
            <a:ext cx="3276600" cy="2286000"/>
          </a:xfrm>
          <a:prstGeom prst="roundRect">
            <a:avLst>
              <a:gd name="adj" fmla="val 5000"/>
            </a:avLst>
          </a:prstGeom>
          <a:solidFill>
            <a:srgbClr val="0F19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4"/>
          <a:srcRect l="142" r="142"/>
          <a:stretch>
            <a:fillRect/>
          </a:stretch>
        </p:blipFill>
        <p:spPr>
          <a:xfrm>
            <a:off x="4552950" y="2247900"/>
            <a:ext cx="2971800" cy="1676400"/>
          </a:xfrm>
          <a:prstGeom prst="roundRect">
            <a:avLst>
              <a:gd name="adj" fmla="val 4545"/>
            </a:avLst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9D866CC-AD65-4282-800F-12A6232369E7}"/>
              </a:ext>
            </a:extLst>
          </p:cNvPr>
          <p:cNvSpPr>
            <a:spLocks noGrp="1"/>
          </p:cNvSpPr>
          <p:nvPr/>
        </p:nvSpPr>
        <p:spPr>
          <a:xfrm>
            <a:off x="4591050" y="407670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3FFF6"/>
                </a:solidFill>
              </a:defRPr>
            </a:pPr>
            <a:r>
              <a:rPr sz="1500" b="1">
                <a:solidFill>
                  <a:srgbClr val="F3FFF6"/>
                </a:solidFill>
              </a:rPr>
              <a:t>Игровые предметы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8E30DB29-C16F-4AF2-B9F0-C617621F77F3}"/>
              </a:ext>
            </a:extLst>
          </p:cNvPr>
          <p:cNvSpPr>
            <a:spLocks noGrp="1"/>
          </p:cNvSpPr>
          <p:nvPr/>
        </p:nvSpPr>
        <p:spPr>
          <a:xfrm>
            <a:off x="8077200" y="2095500"/>
            <a:ext cx="3276600" cy="2286000"/>
          </a:xfrm>
          <a:prstGeom prst="roundRect">
            <a:avLst>
              <a:gd name="adj" fmla="val 5000"/>
            </a:avLst>
          </a:prstGeom>
          <a:solidFill>
            <a:srgbClr val="0F19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rcRect l="142" r="142"/>
          <a:stretch>
            <a:fillRect/>
          </a:stretch>
        </p:blipFill>
        <p:spPr>
          <a:xfrm>
            <a:off x="8229600" y="2247900"/>
            <a:ext cx="2971800" cy="1676400"/>
          </a:xfrm>
          <a:prstGeom prst="roundRect">
            <a:avLst>
              <a:gd name="adj" fmla="val 4545"/>
            </a:avLst>
          </a:prstGeom>
        </p:spPr>
      </p:pic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71A45C78-283E-450D-AD71-C8569C107D2F}"/>
              </a:ext>
            </a:extLst>
          </p:cNvPr>
          <p:cNvSpPr>
            <a:spLocks noGrp="1"/>
          </p:cNvSpPr>
          <p:nvPr/>
        </p:nvSpPr>
        <p:spPr>
          <a:xfrm>
            <a:off x="8267700" y="407670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3FFF6"/>
                </a:solidFill>
              </a:defRPr>
            </a:pPr>
            <a:r>
              <a:rPr sz="1500" b="1">
                <a:solidFill>
                  <a:srgbClr val="F3FFF6"/>
                </a:solidFill>
              </a:rPr>
              <a:t>Ключи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620EBA4-2425-47B6-B22C-83B132DA3853}"/>
              </a:ext>
            </a:extLst>
          </p:cNvPr>
          <p:cNvSpPr>
            <a:spLocks noGrp="1"/>
          </p:cNvSpPr>
          <p:nvPr/>
        </p:nvSpPr>
        <p:spPr>
          <a:xfrm>
            <a:off x="914400" y="5143500"/>
            <a:ext cx="103632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0">
                <a:solidFill>
                  <a:srgbClr val="F3FFF6"/>
                </a:solidFill>
              </a:defRPr>
            </a:pPr>
            <a:endParaRPr sz="1800" b="0" dirty="0">
              <a:solidFill>
                <a:srgbClr val="F3FFF6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545C6D6-71F1-4F46-B951-37659147AB45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66808E"/>
                </a:solidFill>
              </a:defRPr>
            </a:pPr>
            <a:r>
              <a:rPr sz="975" b="0">
                <a:solidFill>
                  <a:srgbClr val="66808E"/>
                </a:solidFill>
              </a:rPr>
              <a:t>VaultTrade / защита проекта / 4</a:t>
            </a:r>
          </a:p>
        </p:txBody>
      </p:sp>
    </p:spTree>
    <p:extLst>
      <p:ext uri="{BB962C8B-B14F-4D97-AF65-F5344CB8AC3E}">
        <p14:creationId xmlns:p14="http://schemas.microsoft.com/office/powerpoint/2010/main" val="16884486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BD548F2-76FA-4FBE-8D55-8FC57E083342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9525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3FFF6"/>
                </a:solidFill>
              </a:defRPr>
            </a:pPr>
            <a:r>
              <a:rPr sz="2850" b="1">
                <a:solidFill>
                  <a:srgbClr val="F3FFF6"/>
                </a:solidFill>
              </a:rPr>
              <a:t>Чаты и уведомления работают без обновления страницы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5EEDF0F0-8044-415A-82DD-D27D40F1FC29}"/>
              </a:ext>
            </a:extLst>
          </p:cNvPr>
          <p:cNvSpPr>
            <a:spLocks noGrp="1"/>
          </p:cNvSpPr>
          <p:nvPr/>
        </p:nvSpPr>
        <p:spPr>
          <a:xfrm>
            <a:off x="742950" y="1562100"/>
            <a:ext cx="4476750" cy="3714750"/>
          </a:xfrm>
          <a:prstGeom prst="roundRect">
            <a:avLst>
              <a:gd name="adj" fmla="val 3077"/>
            </a:avLst>
          </a:prstGeom>
          <a:solidFill>
            <a:srgbClr val="0F19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6DB0AE7-16CC-4AC9-98A6-24A3AD7A6BBD}"/>
              </a:ext>
            </a:extLst>
          </p:cNvPr>
          <p:cNvSpPr>
            <a:spLocks noGrp="1"/>
          </p:cNvSpPr>
          <p:nvPr/>
        </p:nvSpPr>
        <p:spPr>
          <a:xfrm>
            <a:off x="1066800" y="192405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45D86A"/>
                </a:solidFill>
              </a:defRPr>
            </a:pPr>
            <a:r>
              <a:rPr sz="2250" b="1">
                <a:solidFill>
                  <a:srgbClr val="45D86A"/>
                </a:solidFill>
              </a:rPr>
              <a:t>SignalR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205CD50-716E-42AF-BE44-8477DA85A8DB}"/>
              </a:ext>
            </a:extLst>
          </p:cNvPr>
          <p:cNvSpPr>
            <a:spLocks noGrp="1"/>
          </p:cNvSpPr>
          <p:nvPr/>
        </p:nvSpPr>
        <p:spPr>
          <a:xfrm>
            <a:off x="1085850" y="259080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• сообщения покупателя и продавца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1D083AF-C09E-4045-823A-5642A97D4005}"/>
              </a:ext>
            </a:extLst>
          </p:cNvPr>
          <p:cNvSpPr>
            <a:spLocks noGrp="1"/>
          </p:cNvSpPr>
          <p:nvPr/>
        </p:nvSpPr>
        <p:spPr>
          <a:xfrm>
            <a:off x="1085850" y="30289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• мини-чат поддержки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BFFACEA-0A57-465E-B076-41E57440E3E2}"/>
              </a:ext>
            </a:extLst>
          </p:cNvPr>
          <p:cNvSpPr>
            <a:spLocks noGrp="1"/>
          </p:cNvSpPr>
          <p:nvPr/>
        </p:nvSpPr>
        <p:spPr>
          <a:xfrm>
            <a:off x="1085850" y="346710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• уведомления о заказах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95B5591-1D0F-4F19-A448-A001AAB29C31}"/>
              </a:ext>
            </a:extLst>
          </p:cNvPr>
          <p:cNvSpPr>
            <a:spLocks noGrp="1"/>
          </p:cNvSpPr>
          <p:nvPr/>
        </p:nvSpPr>
        <p:spPr>
          <a:xfrm>
            <a:off x="1085850" y="39052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• споры и модерация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179480F-1C7A-457C-B264-A61358C2763E}"/>
              </a:ext>
            </a:extLst>
          </p:cNvPr>
          <p:cNvSpPr>
            <a:spLocks noGrp="1"/>
          </p:cNvSpPr>
          <p:nvPr/>
        </p:nvSpPr>
        <p:spPr>
          <a:xfrm>
            <a:off x="1085850" y="434340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• звук и toast-уведомления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68DAB601-6E04-44C8-96EE-983FAFB6BA1F}"/>
              </a:ext>
            </a:extLst>
          </p:cNvPr>
          <p:cNvSpPr>
            <a:spLocks noGrp="1"/>
          </p:cNvSpPr>
          <p:nvPr/>
        </p:nvSpPr>
        <p:spPr>
          <a:xfrm>
            <a:off x="5981700" y="1562100"/>
            <a:ext cx="4762500" cy="3714750"/>
          </a:xfrm>
          <a:prstGeom prst="roundRect">
            <a:avLst>
              <a:gd name="adj" fmla="val 3077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14E34A8-9F44-472A-83EB-58E8FEDC6C33}"/>
              </a:ext>
            </a:extLst>
          </p:cNvPr>
          <p:cNvSpPr>
            <a:spLocks noGrp="1"/>
          </p:cNvSpPr>
          <p:nvPr/>
        </p:nvSpPr>
        <p:spPr>
          <a:xfrm>
            <a:off x="6324600" y="1924050"/>
            <a:ext cx="3143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8BDF8"/>
                </a:solidFill>
              </a:defRPr>
            </a:pPr>
            <a:r>
              <a:rPr sz="2250" b="1">
                <a:solidFill>
                  <a:srgbClr val="38BDF8"/>
                </a:solidFill>
              </a:rPr>
              <a:t>Поведение чатов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F641959-4331-4B1C-BAAA-771B35F0A595}"/>
              </a:ext>
            </a:extLst>
          </p:cNvPr>
          <p:cNvSpPr>
            <a:spLocks noGrp="1"/>
          </p:cNvSpPr>
          <p:nvPr/>
        </p:nvSpPr>
        <p:spPr>
          <a:xfrm>
            <a:off x="6343650" y="25908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• чат сделки открывается после первого сообщения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8BF36DB-C19D-43D7-BF09-243EE6F53CA6}"/>
              </a:ext>
            </a:extLst>
          </p:cNvPr>
          <p:cNvSpPr>
            <a:spLocks noGrp="1"/>
          </p:cNvSpPr>
          <p:nvPr/>
        </p:nvSpPr>
        <p:spPr>
          <a:xfrm>
            <a:off x="6343650" y="31051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• закрытый чат можно открыть повторной покупкой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CD39CC4-9826-424C-8057-95259254C99A}"/>
              </a:ext>
            </a:extLst>
          </p:cNvPr>
          <p:cNvSpPr>
            <a:spLocks noGrp="1"/>
          </p:cNvSpPr>
          <p:nvPr/>
        </p:nvSpPr>
        <p:spPr>
          <a:xfrm>
            <a:off x="6343650" y="36195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• поддержка становится приватной после ответа сотрудника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79DBEC8-F5B5-44D5-8AF9-DA30E7F1A66D}"/>
              </a:ext>
            </a:extLst>
          </p:cNvPr>
          <p:cNvSpPr>
            <a:spLocks noGrp="1"/>
          </p:cNvSpPr>
          <p:nvPr/>
        </p:nvSpPr>
        <p:spPr>
          <a:xfrm>
            <a:off x="6343650" y="41338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• закрытые чаты можно удалить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65F0586-1E13-4B1B-BA80-A3BEC9AF8CC7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66808E"/>
                </a:solidFill>
              </a:defRPr>
            </a:pPr>
            <a:r>
              <a:rPr sz="975" b="0">
                <a:solidFill>
                  <a:srgbClr val="66808E"/>
                </a:solidFill>
              </a:rPr>
              <a:t>VaultTrade / защита проекта / 5</a:t>
            </a:r>
          </a:p>
        </p:txBody>
      </p:sp>
    </p:spTree>
    <p:extLst>
      <p:ext uri="{BB962C8B-B14F-4D97-AF65-F5344CB8AC3E}">
        <p14:creationId xmlns:p14="http://schemas.microsoft.com/office/powerpoint/2010/main" val="1041296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5D68E2A-9B73-4560-8A15-8E4F964BB492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10001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3FFF6"/>
                </a:solidFill>
              </a:defRPr>
            </a:pPr>
            <a:r>
              <a:rPr sz="2850" b="1">
                <a:solidFill>
                  <a:srgbClr val="F3FFF6"/>
                </a:solidFill>
              </a:rPr>
              <a:t>Роли разделяют обычные действия и управление платформой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7AE9CFD7-6392-4FAA-A781-FA2B90D24833}"/>
              </a:ext>
            </a:extLst>
          </p:cNvPr>
          <p:cNvSpPr>
            <a:spLocks noGrp="1"/>
          </p:cNvSpPr>
          <p:nvPr/>
        </p:nvSpPr>
        <p:spPr>
          <a:xfrm>
            <a:off x="800100" y="1714500"/>
            <a:ext cx="4762500" cy="1428750"/>
          </a:xfrm>
          <a:prstGeom prst="roundRect">
            <a:avLst>
              <a:gd name="adj" fmla="val 8000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7561B0B-646A-4DDE-9CFB-BB6BD6B3C9B5}"/>
              </a:ext>
            </a:extLst>
          </p:cNvPr>
          <p:cNvSpPr>
            <a:spLocks noGrp="1"/>
          </p:cNvSpPr>
          <p:nvPr/>
        </p:nvSpPr>
        <p:spPr>
          <a:xfrm>
            <a:off x="1066800" y="1962150"/>
            <a:ext cx="190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45D86A"/>
                </a:solidFill>
              </a:defRPr>
            </a:pPr>
            <a:r>
              <a:rPr sz="2100" b="1">
                <a:solidFill>
                  <a:srgbClr val="45D86A"/>
                </a:solidFill>
              </a:rPr>
              <a:t>User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3269616-DE5D-471C-8AF3-E2855781E276}"/>
              </a:ext>
            </a:extLst>
          </p:cNvPr>
          <p:cNvSpPr>
            <a:spLocks noGrp="1"/>
          </p:cNvSpPr>
          <p:nvPr/>
        </p:nvSpPr>
        <p:spPr>
          <a:xfrm>
            <a:off x="1066800" y="2438400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9FB9C8"/>
                </a:solidFill>
              </a:defRPr>
            </a:pPr>
            <a:r>
              <a:rPr sz="1500" b="0">
                <a:solidFill>
                  <a:srgbClr val="9FB9C8"/>
                </a:solidFill>
              </a:rPr>
              <a:t>покупки, чаты, избранное, отзывы, история заказов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183CFA8C-35E6-4F64-96BE-B8FCA262A2EB}"/>
              </a:ext>
            </a:extLst>
          </p:cNvPr>
          <p:cNvSpPr>
            <a:spLocks noGrp="1"/>
          </p:cNvSpPr>
          <p:nvPr/>
        </p:nvSpPr>
        <p:spPr>
          <a:xfrm>
            <a:off x="6229350" y="1714500"/>
            <a:ext cx="4762500" cy="1428750"/>
          </a:xfrm>
          <a:prstGeom prst="roundRect">
            <a:avLst>
              <a:gd name="adj" fmla="val 8000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9C2A954-D77A-4544-ACC3-4B4D56A36279}"/>
              </a:ext>
            </a:extLst>
          </p:cNvPr>
          <p:cNvSpPr>
            <a:spLocks noGrp="1"/>
          </p:cNvSpPr>
          <p:nvPr/>
        </p:nvSpPr>
        <p:spPr>
          <a:xfrm>
            <a:off x="6496050" y="1962150"/>
            <a:ext cx="190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45D86A"/>
                </a:solidFill>
              </a:defRPr>
            </a:pPr>
            <a:r>
              <a:rPr sz="2100" b="1">
                <a:solidFill>
                  <a:srgbClr val="45D86A"/>
                </a:solidFill>
              </a:rPr>
              <a:t>Seller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128B670-814C-4A5F-9D4C-B4C725D224EE}"/>
              </a:ext>
            </a:extLst>
          </p:cNvPr>
          <p:cNvSpPr>
            <a:spLocks noGrp="1"/>
          </p:cNvSpPr>
          <p:nvPr/>
        </p:nvSpPr>
        <p:spPr>
          <a:xfrm>
            <a:off x="6496050" y="2438400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9FB9C8"/>
                </a:solidFill>
              </a:defRPr>
            </a:pPr>
            <a:r>
              <a:rPr sz="1500" b="0">
                <a:solidFill>
                  <a:srgbClr val="9FB9C8"/>
                </a:solidFill>
              </a:rPr>
              <a:t>создание товаров, заказы, чаты, спор о выплате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78138CBF-15DE-4202-AC89-F0D8893EAA9A}"/>
              </a:ext>
            </a:extLst>
          </p:cNvPr>
          <p:cNvSpPr>
            <a:spLocks noGrp="1"/>
          </p:cNvSpPr>
          <p:nvPr/>
        </p:nvSpPr>
        <p:spPr>
          <a:xfrm>
            <a:off x="800100" y="3714750"/>
            <a:ext cx="4762500" cy="1428750"/>
          </a:xfrm>
          <a:prstGeom prst="roundRect">
            <a:avLst>
              <a:gd name="adj" fmla="val 8000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6490C3C3-DF2F-47D6-9921-80EC103A8DBE}"/>
              </a:ext>
            </a:extLst>
          </p:cNvPr>
          <p:cNvSpPr>
            <a:spLocks noGrp="1"/>
          </p:cNvSpPr>
          <p:nvPr/>
        </p:nvSpPr>
        <p:spPr>
          <a:xfrm>
            <a:off x="1066800" y="3962400"/>
            <a:ext cx="190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45D86A"/>
                </a:solidFill>
              </a:defRPr>
            </a:pPr>
            <a:r>
              <a:rPr sz="2100" b="1">
                <a:solidFill>
                  <a:srgbClr val="45D86A"/>
                </a:solidFill>
              </a:rPr>
              <a:t>Moderator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11A3694-5E60-4789-AE7F-6F0BD0A6636B}"/>
              </a:ext>
            </a:extLst>
          </p:cNvPr>
          <p:cNvSpPr>
            <a:spLocks noGrp="1"/>
          </p:cNvSpPr>
          <p:nvPr/>
        </p:nvSpPr>
        <p:spPr>
          <a:xfrm>
            <a:off x="1066800" y="4438650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9FB9C8"/>
                </a:solidFill>
              </a:defRPr>
            </a:pPr>
            <a:r>
              <a:rPr sz="1500" b="0">
                <a:solidFill>
                  <a:srgbClr val="9FB9C8"/>
                </a:solidFill>
              </a:rPr>
              <a:t>модерация объявлений, поддержка, просмотр пользователей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6379C093-3DCF-4257-B6F7-7E23AD5AB8F9}"/>
              </a:ext>
            </a:extLst>
          </p:cNvPr>
          <p:cNvSpPr>
            <a:spLocks noGrp="1"/>
          </p:cNvSpPr>
          <p:nvPr/>
        </p:nvSpPr>
        <p:spPr>
          <a:xfrm>
            <a:off x="6229350" y="3714750"/>
            <a:ext cx="4762500" cy="1428750"/>
          </a:xfrm>
          <a:prstGeom prst="roundRect">
            <a:avLst>
              <a:gd name="adj" fmla="val 8000"/>
            </a:avLst>
          </a:prstGeom>
          <a:solidFill>
            <a:srgbClr val="183020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C498CA4-E755-430E-AA3E-3B8156A5054B}"/>
              </a:ext>
            </a:extLst>
          </p:cNvPr>
          <p:cNvSpPr>
            <a:spLocks noGrp="1"/>
          </p:cNvSpPr>
          <p:nvPr/>
        </p:nvSpPr>
        <p:spPr>
          <a:xfrm>
            <a:off x="6496050" y="3962400"/>
            <a:ext cx="190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7AF28E"/>
                </a:solidFill>
              </a:defRPr>
            </a:pPr>
            <a:r>
              <a:rPr sz="2100" b="1">
                <a:solidFill>
                  <a:srgbClr val="7AF28E"/>
                </a:solidFill>
              </a:rPr>
              <a:t>Admin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4CBD71-48EE-4EF2-9F51-A33AAB3B0673}"/>
              </a:ext>
            </a:extLst>
          </p:cNvPr>
          <p:cNvSpPr>
            <a:spLocks noGrp="1"/>
          </p:cNvSpPr>
          <p:nvPr/>
        </p:nvSpPr>
        <p:spPr>
          <a:xfrm>
            <a:off x="6496050" y="4438650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9FB9C8"/>
                </a:solidFill>
              </a:defRPr>
            </a:pPr>
            <a:r>
              <a:rPr sz="1500" b="0">
                <a:solidFill>
                  <a:srgbClr val="9FB9C8"/>
                </a:solidFill>
              </a:rPr>
              <a:t>роли, балансы, промокоды, ограничения и полное управление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6CE91ED-3E27-435E-A7C2-7CDBCF1D46FD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66808E"/>
                </a:solidFill>
              </a:defRPr>
            </a:pPr>
            <a:r>
              <a:rPr sz="975" b="0">
                <a:solidFill>
                  <a:srgbClr val="66808E"/>
                </a:solidFill>
              </a:rPr>
              <a:t>VaultTrade / защита проекта / 6</a:t>
            </a:r>
          </a:p>
        </p:txBody>
      </p:sp>
    </p:spTree>
    <p:extLst>
      <p:ext uri="{BB962C8B-B14F-4D97-AF65-F5344CB8AC3E}">
        <p14:creationId xmlns:p14="http://schemas.microsoft.com/office/powerpoint/2010/main" val="166813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99B7240A-260A-427C-AC43-4D6D85A3B228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10001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3FFF6"/>
                </a:solidFill>
              </a:defRPr>
            </a:pPr>
            <a:r>
              <a:rPr sz="2850" b="1">
                <a:solidFill>
                  <a:srgbClr val="F3FFF6"/>
                </a:solidFill>
              </a:rPr>
              <a:t>Админка показывает, что проект не ограничен витриной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723F9A7-F613-4436-ACB7-C1AD065BF2D7}"/>
              </a:ext>
            </a:extLst>
          </p:cNvPr>
          <p:cNvSpPr>
            <a:spLocks noGrp="1"/>
          </p:cNvSpPr>
          <p:nvPr/>
        </p:nvSpPr>
        <p:spPr>
          <a:xfrm>
            <a:off x="704850" y="1162050"/>
            <a:ext cx="9334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9FB9C8"/>
                </a:solidFill>
              </a:defRPr>
            </a:pPr>
            <a:r>
              <a:rPr sz="1650" b="0" dirty="0" err="1">
                <a:solidFill>
                  <a:srgbClr val="9FB9C8"/>
                </a:solidFill>
              </a:rPr>
              <a:t>Есть</a:t>
            </a:r>
            <a:r>
              <a:rPr sz="1650" b="0" dirty="0">
                <a:solidFill>
                  <a:srgbClr val="9FB9C8"/>
                </a:solidFill>
              </a:rPr>
              <a:t> </a:t>
            </a:r>
            <a:r>
              <a:rPr sz="1650" b="0" dirty="0" err="1">
                <a:solidFill>
                  <a:srgbClr val="9FB9C8"/>
                </a:solidFill>
              </a:rPr>
              <a:t>реальные</a:t>
            </a:r>
            <a:r>
              <a:rPr sz="1650" b="0" dirty="0">
                <a:solidFill>
                  <a:srgbClr val="9FB9C8"/>
                </a:solidFill>
              </a:rPr>
              <a:t> </a:t>
            </a:r>
            <a:r>
              <a:rPr sz="1650" b="0" dirty="0" err="1">
                <a:solidFill>
                  <a:srgbClr val="9FB9C8"/>
                </a:solidFill>
              </a:rPr>
              <a:t>административные</a:t>
            </a:r>
            <a:r>
              <a:rPr sz="1650" b="0" dirty="0">
                <a:solidFill>
                  <a:srgbClr val="9FB9C8"/>
                </a:solidFill>
              </a:rPr>
              <a:t> </a:t>
            </a:r>
            <a:r>
              <a:rPr sz="1650" b="0" dirty="0" err="1">
                <a:solidFill>
                  <a:srgbClr val="9FB9C8"/>
                </a:solidFill>
              </a:rPr>
              <a:t>сценарии</a:t>
            </a:r>
            <a:r>
              <a:rPr lang="en-US" sz="1650" b="0" dirty="0">
                <a:solidFill>
                  <a:srgbClr val="9FB9C8"/>
                </a:solidFill>
              </a:rPr>
              <a:t>: </a:t>
            </a:r>
            <a:r>
              <a:rPr sz="1650" b="0" dirty="0" err="1">
                <a:solidFill>
                  <a:srgbClr val="9FB9C8"/>
                </a:solidFill>
              </a:rPr>
              <a:t>роли</a:t>
            </a:r>
            <a:r>
              <a:rPr sz="1650" b="0" dirty="0">
                <a:solidFill>
                  <a:srgbClr val="9FB9C8"/>
                </a:solidFill>
              </a:rPr>
              <a:t>, </a:t>
            </a:r>
            <a:r>
              <a:rPr sz="1650" b="0" dirty="0" err="1">
                <a:solidFill>
                  <a:srgbClr val="9FB9C8"/>
                </a:solidFill>
              </a:rPr>
              <a:t>баланс</a:t>
            </a:r>
            <a:r>
              <a:rPr sz="1650" b="0" dirty="0">
                <a:solidFill>
                  <a:srgbClr val="9FB9C8"/>
                </a:solidFill>
              </a:rPr>
              <a:t>, </a:t>
            </a:r>
            <a:r>
              <a:rPr sz="1650" b="0" dirty="0" err="1">
                <a:solidFill>
                  <a:srgbClr val="9FB9C8"/>
                </a:solidFill>
              </a:rPr>
              <a:t>модерация</a:t>
            </a:r>
            <a:r>
              <a:rPr sz="1650" b="0" dirty="0">
                <a:solidFill>
                  <a:srgbClr val="9FB9C8"/>
                </a:solidFill>
              </a:rPr>
              <a:t> и </a:t>
            </a:r>
            <a:r>
              <a:rPr sz="1650" b="0" dirty="0" err="1">
                <a:solidFill>
                  <a:srgbClr val="9FB9C8"/>
                </a:solidFill>
              </a:rPr>
              <a:t>ограничения</a:t>
            </a:r>
            <a:r>
              <a:rPr sz="1650" b="0" dirty="0">
                <a:solidFill>
                  <a:srgbClr val="9FB9C8"/>
                </a:solidFill>
              </a:rPr>
              <a:t>.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E5129178-AD78-4831-9759-9DDC9400BB0B}"/>
              </a:ext>
            </a:extLst>
          </p:cNvPr>
          <p:cNvSpPr>
            <a:spLocks noGrp="1"/>
          </p:cNvSpPr>
          <p:nvPr/>
        </p:nvSpPr>
        <p:spPr>
          <a:xfrm>
            <a:off x="819150" y="2266950"/>
            <a:ext cx="3105150" cy="2628900"/>
          </a:xfrm>
          <a:prstGeom prst="roundRect">
            <a:avLst>
              <a:gd name="adj" fmla="val 4348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DAEFF88-954B-4AFC-BF16-B7B509971819}"/>
              </a:ext>
            </a:extLst>
          </p:cNvPr>
          <p:cNvSpPr>
            <a:spLocks noGrp="1"/>
          </p:cNvSpPr>
          <p:nvPr/>
        </p:nvSpPr>
        <p:spPr>
          <a:xfrm>
            <a:off x="1047750" y="25717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45D86A"/>
                </a:solidFill>
              </a:defRPr>
            </a:pPr>
            <a:r>
              <a:rPr sz="2025" b="1">
                <a:solidFill>
                  <a:srgbClr val="45D86A"/>
                </a:solidFill>
              </a:rPr>
              <a:t>Пользователи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936E5A8-0B3B-4077-8989-5A43061ED5BE}"/>
              </a:ext>
            </a:extLst>
          </p:cNvPr>
          <p:cNvSpPr>
            <a:spLocks noGrp="1"/>
          </p:cNvSpPr>
          <p:nvPr/>
        </p:nvSpPr>
        <p:spPr>
          <a:xfrm>
            <a:off x="1085850" y="31813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• просмотр всех аккаунтов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3D22044-BFC2-4BAB-B604-7BFF1EA853D4}"/>
              </a:ext>
            </a:extLst>
          </p:cNvPr>
          <p:cNvSpPr>
            <a:spLocks noGrp="1"/>
          </p:cNvSpPr>
          <p:nvPr/>
        </p:nvSpPr>
        <p:spPr>
          <a:xfrm>
            <a:off x="1085850" y="36385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• переход в профиль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332BCCD-6283-4A7F-9133-B7417B3524DD}"/>
              </a:ext>
            </a:extLst>
          </p:cNvPr>
          <p:cNvSpPr>
            <a:spLocks noGrp="1"/>
          </p:cNvSpPr>
          <p:nvPr/>
        </p:nvSpPr>
        <p:spPr>
          <a:xfrm>
            <a:off x="1085850" y="40957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• написать пользователю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CC2F28A-F32D-41C4-9A68-76253BC781A2}"/>
              </a:ext>
            </a:extLst>
          </p:cNvPr>
          <p:cNvSpPr>
            <a:spLocks noGrp="1"/>
          </p:cNvSpPr>
          <p:nvPr/>
        </p:nvSpPr>
        <p:spPr>
          <a:xfrm>
            <a:off x="4400550" y="2266950"/>
            <a:ext cx="3105150" cy="2628900"/>
          </a:xfrm>
          <a:prstGeom prst="roundRect">
            <a:avLst>
              <a:gd name="adj" fmla="val 4348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DE06994E-93C2-4901-9CE7-FC53E9EFA21A}"/>
              </a:ext>
            </a:extLst>
          </p:cNvPr>
          <p:cNvSpPr>
            <a:spLocks noGrp="1"/>
          </p:cNvSpPr>
          <p:nvPr/>
        </p:nvSpPr>
        <p:spPr>
          <a:xfrm>
            <a:off x="4629150" y="25717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38BDF8"/>
                </a:solidFill>
              </a:defRPr>
            </a:pPr>
            <a:r>
              <a:rPr sz="2025" b="1">
                <a:solidFill>
                  <a:srgbClr val="38BDF8"/>
                </a:solidFill>
              </a:rPr>
              <a:t>Управление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849BB55-1B8E-427C-88F7-AEEF34C457CB}"/>
              </a:ext>
            </a:extLst>
          </p:cNvPr>
          <p:cNvSpPr>
            <a:spLocks noGrp="1"/>
          </p:cNvSpPr>
          <p:nvPr/>
        </p:nvSpPr>
        <p:spPr>
          <a:xfrm>
            <a:off x="4667250" y="31813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• роли и продавцы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025EBD2-DB62-4CF4-B6EA-2CFB06040980}"/>
              </a:ext>
            </a:extLst>
          </p:cNvPr>
          <p:cNvSpPr>
            <a:spLocks noGrp="1"/>
          </p:cNvSpPr>
          <p:nvPr/>
        </p:nvSpPr>
        <p:spPr>
          <a:xfrm>
            <a:off x="4667250" y="36385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• баланс VT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4E48D70-C22D-46BB-B0A6-F859965E7FBE}"/>
              </a:ext>
            </a:extLst>
          </p:cNvPr>
          <p:cNvSpPr>
            <a:spLocks noGrp="1"/>
          </p:cNvSpPr>
          <p:nvPr/>
        </p:nvSpPr>
        <p:spPr>
          <a:xfrm>
            <a:off x="4667250" y="40957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• промокоды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B5542DEA-702C-4FDD-9898-9412F405163C}"/>
              </a:ext>
            </a:extLst>
          </p:cNvPr>
          <p:cNvSpPr>
            <a:spLocks noGrp="1"/>
          </p:cNvSpPr>
          <p:nvPr/>
        </p:nvSpPr>
        <p:spPr>
          <a:xfrm>
            <a:off x="7981950" y="2266950"/>
            <a:ext cx="3105150" cy="2628900"/>
          </a:xfrm>
          <a:prstGeom prst="roundRect">
            <a:avLst>
              <a:gd name="adj" fmla="val 4348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94C2389-2B0D-465F-B43D-BC837A9862BD}"/>
              </a:ext>
            </a:extLst>
          </p:cNvPr>
          <p:cNvSpPr>
            <a:spLocks noGrp="1"/>
          </p:cNvSpPr>
          <p:nvPr/>
        </p:nvSpPr>
        <p:spPr>
          <a:xfrm>
            <a:off x="8210550" y="25717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45D86A"/>
                </a:solidFill>
              </a:defRPr>
            </a:pPr>
            <a:r>
              <a:rPr sz="2025" b="1">
                <a:solidFill>
                  <a:srgbClr val="45D86A"/>
                </a:solidFill>
              </a:rPr>
              <a:t>Контроль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99490B8-5FD7-4963-B307-86793DC87977}"/>
              </a:ext>
            </a:extLst>
          </p:cNvPr>
          <p:cNvSpPr>
            <a:spLocks noGrp="1"/>
          </p:cNvSpPr>
          <p:nvPr/>
        </p:nvSpPr>
        <p:spPr>
          <a:xfrm>
            <a:off x="8248650" y="31813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• модерация товаров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684FC0F-EC0A-4DD2-B9BC-7374A015445F}"/>
              </a:ext>
            </a:extLst>
          </p:cNvPr>
          <p:cNvSpPr>
            <a:spLocks noGrp="1"/>
          </p:cNvSpPr>
          <p:nvPr/>
        </p:nvSpPr>
        <p:spPr>
          <a:xfrm>
            <a:off x="8248650" y="36385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• споры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AA4F630-F378-4139-837C-82A6CEF57D3B}"/>
              </a:ext>
            </a:extLst>
          </p:cNvPr>
          <p:cNvSpPr>
            <a:spLocks noGrp="1"/>
          </p:cNvSpPr>
          <p:nvPr/>
        </p:nvSpPr>
        <p:spPr>
          <a:xfrm>
            <a:off x="8248650" y="40957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• временные ограничения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9030A7C-6774-412E-9D04-35256D93B4F7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66808E"/>
                </a:solidFill>
              </a:defRPr>
            </a:pPr>
            <a:r>
              <a:rPr sz="975" b="0">
                <a:solidFill>
                  <a:srgbClr val="66808E"/>
                </a:solidFill>
              </a:rPr>
              <a:t>VaultTrade / защита проекта / 7</a:t>
            </a:r>
          </a:p>
        </p:txBody>
      </p:sp>
    </p:spTree>
    <p:extLst>
      <p:ext uri="{BB962C8B-B14F-4D97-AF65-F5344CB8AC3E}">
        <p14:creationId xmlns:p14="http://schemas.microsoft.com/office/powerpoint/2010/main" val="17066717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05E2544-C32D-4B73-93E6-788AC2AA72ED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9525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3FFF6"/>
                </a:solidFill>
              </a:defRPr>
            </a:pPr>
            <a:r>
              <a:rPr sz="2850" b="1">
                <a:solidFill>
                  <a:srgbClr val="F3FFF6"/>
                </a:solidFill>
              </a:rPr>
              <a:t>Архитектура разделена на понятные слои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756DED69-FC61-47E7-8E4F-FB56C938FE9E}"/>
              </a:ext>
            </a:extLst>
          </p:cNvPr>
          <p:cNvSpPr>
            <a:spLocks noGrp="1"/>
          </p:cNvSpPr>
          <p:nvPr/>
        </p:nvSpPr>
        <p:spPr>
          <a:xfrm>
            <a:off x="1562100" y="1428750"/>
            <a:ext cx="9048750" cy="552450"/>
          </a:xfrm>
          <a:prstGeom prst="roundRect">
            <a:avLst>
              <a:gd name="adj" fmla="val 20690"/>
            </a:avLst>
          </a:prstGeom>
          <a:solidFill>
            <a:srgbClr val="102338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AA0A081-D1CA-4362-A783-071FE56AE5B9}"/>
              </a:ext>
            </a:extLst>
          </p:cNvPr>
          <p:cNvSpPr>
            <a:spLocks noGrp="1"/>
          </p:cNvSpPr>
          <p:nvPr/>
        </p:nvSpPr>
        <p:spPr>
          <a:xfrm>
            <a:off x="1866900" y="1552575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8BDF8"/>
                </a:solidFill>
              </a:defRPr>
            </a:pPr>
            <a:r>
              <a:rPr sz="1650" b="1">
                <a:solidFill>
                  <a:srgbClr val="38BDF8"/>
                </a:solidFill>
              </a:rPr>
              <a:t>Frontend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02F48E5-45A5-4C52-BC81-BB4C31F0C573}"/>
              </a:ext>
            </a:extLst>
          </p:cNvPr>
          <p:cNvSpPr>
            <a:spLocks noGrp="1"/>
          </p:cNvSpPr>
          <p:nvPr/>
        </p:nvSpPr>
        <p:spPr>
          <a:xfrm>
            <a:off x="4095750" y="1562100"/>
            <a:ext cx="581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React, TypeScript, Vite, MUI, Redux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A90CBAEF-A602-4612-8228-C38614EEF5ED}"/>
              </a:ext>
            </a:extLst>
          </p:cNvPr>
          <p:cNvSpPr>
            <a:spLocks noGrp="1"/>
          </p:cNvSpPr>
          <p:nvPr/>
        </p:nvSpPr>
        <p:spPr>
          <a:xfrm>
            <a:off x="1562100" y="2228850"/>
            <a:ext cx="9048750" cy="552450"/>
          </a:xfrm>
          <a:prstGeom prst="roundRect">
            <a:avLst>
              <a:gd name="adj" fmla="val 20690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E51EDB0-7099-4084-AE4F-DD3CB6CA4DAA}"/>
              </a:ext>
            </a:extLst>
          </p:cNvPr>
          <p:cNvSpPr>
            <a:spLocks noGrp="1"/>
          </p:cNvSpPr>
          <p:nvPr/>
        </p:nvSpPr>
        <p:spPr>
          <a:xfrm>
            <a:off x="1866900" y="2352675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45D86A"/>
                </a:solidFill>
              </a:defRPr>
            </a:pPr>
            <a:r>
              <a:rPr sz="1650" b="1">
                <a:solidFill>
                  <a:srgbClr val="45D86A"/>
                </a:solidFill>
              </a:rPr>
              <a:t>API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4D79AAD-0AD2-4B9D-A160-50B6E67502D5}"/>
              </a:ext>
            </a:extLst>
          </p:cNvPr>
          <p:cNvSpPr>
            <a:spLocks noGrp="1"/>
          </p:cNvSpPr>
          <p:nvPr/>
        </p:nvSpPr>
        <p:spPr>
          <a:xfrm>
            <a:off x="4095750" y="2362200"/>
            <a:ext cx="581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Controllers, JWT, CORS, SignalR hubs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9B101A32-0A64-4680-A2C9-DE479515E61C}"/>
              </a:ext>
            </a:extLst>
          </p:cNvPr>
          <p:cNvSpPr>
            <a:spLocks noGrp="1"/>
          </p:cNvSpPr>
          <p:nvPr/>
        </p:nvSpPr>
        <p:spPr>
          <a:xfrm>
            <a:off x="1562100" y="3028950"/>
            <a:ext cx="9048750" cy="552450"/>
          </a:xfrm>
          <a:prstGeom prst="roundRect">
            <a:avLst>
              <a:gd name="adj" fmla="val 20690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D5BE2ACA-FC0F-472E-9E4A-5111F523A84E}"/>
              </a:ext>
            </a:extLst>
          </p:cNvPr>
          <p:cNvSpPr>
            <a:spLocks noGrp="1"/>
          </p:cNvSpPr>
          <p:nvPr/>
        </p:nvSpPr>
        <p:spPr>
          <a:xfrm>
            <a:off x="1866900" y="3152775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45D86A"/>
                </a:solidFill>
              </a:defRPr>
            </a:pPr>
            <a:r>
              <a:rPr sz="1650" b="1">
                <a:solidFill>
                  <a:srgbClr val="45D86A"/>
                </a:solidFill>
              </a:rPr>
              <a:t>Application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C59E5A7-0FFE-44A2-8288-4618734B3031}"/>
              </a:ext>
            </a:extLst>
          </p:cNvPr>
          <p:cNvSpPr>
            <a:spLocks noGrp="1"/>
          </p:cNvSpPr>
          <p:nvPr/>
        </p:nvSpPr>
        <p:spPr>
          <a:xfrm>
            <a:off x="4095750" y="3162300"/>
            <a:ext cx="581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сервисы, DTO, бизнес-правила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B11A210D-CB55-4E79-BD89-15AEA1B4147D}"/>
              </a:ext>
            </a:extLst>
          </p:cNvPr>
          <p:cNvSpPr>
            <a:spLocks noGrp="1"/>
          </p:cNvSpPr>
          <p:nvPr/>
        </p:nvSpPr>
        <p:spPr>
          <a:xfrm>
            <a:off x="1562100" y="3829050"/>
            <a:ext cx="9048750" cy="552450"/>
          </a:xfrm>
          <a:prstGeom prst="roundRect">
            <a:avLst>
              <a:gd name="adj" fmla="val 20690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9D72B8D-3D0A-437A-9EC6-BC9B5BEF25CB}"/>
              </a:ext>
            </a:extLst>
          </p:cNvPr>
          <p:cNvSpPr>
            <a:spLocks noGrp="1"/>
          </p:cNvSpPr>
          <p:nvPr/>
        </p:nvSpPr>
        <p:spPr>
          <a:xfrm>
            <a:off x="1866900" y="3952875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45D86A"/>
                </a:solidFill>
              </a:defRPr>
            </a:pPr>
            <a:r>
              <a:rPr sz="1650" b="1">
                <a:solidFill>
                  <a:srgbClr val="45D86A"/>
                </a:solidFill>
              </a:rPr>
              <a:t>Domain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4158EB9-4D23-46A8-9D89-D105835B1398}"/>
              </a:ext>
            </a:extLst>
          </p:cNvPr>
          <p:cNvSpPr>
            <a:spLocks noGrp="1"/>
          </p:cNvSpPr>
          <p:nvPr/>
        </p:nvSpPr>
        <p:spPr>
          <a:xfrm>
            <a:off x="4095750" y="3962400"/>
            <a:ext cx="581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сущности, роли, статусы</a:t>
            </a: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16AA0D44-9EF6-44C9-8D25-C04C676D9FAD}"/>
              </a:ext>
            </a:extLst>
          </p:cNvPr>
          <p:cNvSpPr>
            <a:spLocks noGrp="1"/>
          </p:cNvSpPr>
          <p:nvPr/>
        </p:nvSpPr>
        <p:spPr>
          <a:xfrm>
            <a:off x="1562100" y="4629150"/>
            <a:ext cx="9048750" cy="552450"/>
          </a:xfrm>
          <a:prstGeom prst="roundRect">
            <a:avLst>
              <a:gd name="adj" fmla="val 20690"/>
            </a:avLst>
          </a:prstGeom>
          <a:solidFill>
            <a:srgbClr val="183020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9CD8E96-33D5-4464-AE40-19F98F7E7AA5}"/>
              </a:ext>
            </a:extLst>
          </p:cNvPr>
          <p:cNvSpPr>
            <a:spLocks noGrp="1"/>
          </p:cNvSpPr>
          <p:nvPr/>
        </p:nvSpPr>
        <p:spPr>
          <a:xfrm>
            <a:off x="1866900" y="4752975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45D86A"/>
                </a:solidFill>
              </a:defRPr>
            </a:pPr>
            <a:r>
              <a:rPr sz="1650" b="1">
                <a:solidFill>
                  <a:srgbClr val="45D86A"/>
                </a:solidFill>
              </a:rPr>
              <a:t>Infrastructure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D9CD45C-2E7B-468C-AA6F-B397D7591FE9}"/>
              </a:ext>
            </a:extLst>
          </p:cNvPr>
          <p:cNvSpPr>
            <a:spLocks noGrp="1"/>
          </p:cNvSpPr>
          <p:nvPr/>
        </p:nvSpPr>
        <p:spPr>
          <a:xfrm>
            <a:off x="4095750" y="4762500"/>
            <a:ext cx="581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3FFF6"/>
                </a:solidFill>
              </a:defRPr>
            </a:pPr>
            <a:r>
              <a:rPr sz="1575" b="0">
                <a:solidFill>
                  <a:srgbClr val="F3FFF6"/>
                </a:solidFill>
              </a:rPr>
              <a:t>EF Core, PostgreSQL, email, seed, migrations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5D8750AF-5C13-4CDF-8F0F-C6CF80B4F391}"/>
              </a:ext>
            </a:extLst>
          </p:cNvPr>
          <p:cNvSpPr>
            <a:spLocks noGrp="1"/>
          </p:cNvSpPr>
          <p:nvPr/>
        </p:nvSpPr>
        <p:spPr>
          <a:xfrm>
            <a:off x="1200150" y="5676900"/>
            <a:ext cx="9715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 b="0">
                <a:solidFill>
                  <a:srgbClr val="9FB9C8"/>
                </a:solidFill>
              </a:defRPr>
            </a:pPr>
            <a:r>
              <a:rPr sz="1575" b="0">
                <a:solidFill>
                  <a:srgbClr val="9FB9C8"/>
                </a:solidFill>
              </a:rPr>
              <a:t>Так проще объяснить код: UI вызывает API, API передает работу сервисам, сервисы меняют доменную модель и сохраняют данные через инфраструктуру.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DFD70433-1375-43BF-B4DC-719107353C26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66808E"/>
                </a:solidFill>
              </a:defRPr>
            </a:pPr>
            <a:r>
              <a:rPr sz="975" b="0">
                <a:solidFill>
                  <a:srgbClr val="66808E"/>
                </a:solidFill>
              </a:rPr>
              <a:t>VaultTrade / защита проекта / 8</a:t>
            </a:r>
          </a:p>
        </p:txBody>
      </p:sp>
    </p:spTree>
    <p:extLst>
      <p:ext uri="{BB962C8B-B14F-4D97-AF65-F5344CB8AC3E}">
        <p14:creationId xmlns:p14="http://schemas.microsoft.com/office/powerpoint/2010/main" val="9724207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E3720CF-01D6-4F94-8584-AC00CE20F06E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9525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3FFF6"/>
                </a:solidFill>
              </a:defRPr>
            </a:pPr>
            <a:r>
              <a:rPr sz="2850" b="1">
                <a:solidFill>
                  <a:srgbClr val="F3FFF6"/>
                </a:solidFill>
              </a:rPr>
              <a:t>Проект развернут как реальное web-приложение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FDD40AC1-5270-4BC4-B377-094DE303158B}"/>
              </a:ext>
            </a:extLst>
          </p:cNvPr>
          <p:cNvSpPr>
            <a:spLocks noGrp="1"/>
          </p:cNvSpPr>
          <p:nvPr/>
        </p:nvSpPr>
        <p:spPr>
          <a:xfrm>
            <a:off x="876300" y="1581150"/>
            <a:ext cx="4762500" cy="876300"/>
          </a:xfrm>
          <a:prstGeom prst="roundRect">
            <a:avLst>
              <a:gd name="adj" fmla="val 13043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B2FCD14-690A-423C-9031-ABAF151EA755}"/>
              </a:ext>
            </a:extLst>
          </p:cNvPr>
          <p:cNvSpPr>
            <a:spLocks noGrp="1"/>
          </p:cNvSpPr>
          <p:nvPr/>
        </p:nvSpPr>
        <p:spPr>
          <a:xfrm>
            <a:off x="1123950" y="17526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45D86A"/>
                </a:solidFill>
              </a:defRPr>
            </a:pPr>
            <a:r>
              <a:rPr sz="1800" b="1">
                <a:solidFill>
                  <a:srgbClr val="45D86A"/>
                </a:solidFill>
              </a:rPr>
              <a:t>Vercel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B90ACCF-FD20-41B6-89F8-4A207A59D8C5}"/>
              </a:ext>
            </a:extLst>
          </p:cNvPr>
          <p:cNvSpPr>
            <a:spLocks noGrp="1"/>
          </p:cNvSpPr>
          <p:nvPr/>
        </p:nvSpPr>
        <p:spPr>
          <a:xfrm>
            <a:off x="1123950" y="207645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9FB9C8"/>
                </a:solidFill>
              </a:defRPr>
            </a:pPr>
            <a:r>
              <a:rPr sz="1350" b="0">
                <a:solidFill>
                  <a:srgbClr val="9FB9C8"/>
                </a:solidFill>
              </a:rPr>
              <a:t>frontend: React build из папки frontend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2155C981-4F30-4340-9043-DC24C7A713C7}"/>
              </a:ext>
            </a:extLst>
          </p:cNvPr>
          <p:cNvSpPr>
            <a:spLocks noGrp="1"/>
          </p:cNvSpPr>
          <p:nvPr/>
        </p:nvSpPr>
        <p:spPr>
          <a:xfrm>
            <a:off x="6362700" y="1581150"/>
            <a:ext cx="4762500" cy="876300"/>
          </a:xfrm>
          <a:prstGeom prst="roundRect">
            <a:avLst>
              <a:gd name="adj" fmla="val 13043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C9E8CCD-A6B1-4EAB-A50B-8F4CAB4FE515}"/>
              </a:ext>
            </a:extLst>
          </p:cNvPr>
          <p:cNvSpPr>
            <a:spLocks noGrp="1"/>
          </p:cNvSpPr>
          <p:nvPr/>
        </p:nvSpPr>
        <p:spPr>
          <a:xfrm>
            <a:off x="6610350" y="17526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45D86A"/>
                </a:solidFill>
              </a:defRPr>
            </a:pPr>
            <a:r>
              <a:rPr sz="1800" b="1">
                <a:solidFill>
                  <a:srgbClr val="45D86A"/>
                </a:solidFill>
              </a:rPr>
              <a:t>Render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53AA1B2-6F78-438F-845D-1A9897A78412}"/>
              </a:ext>
            </a:extLst>
          </p:cNvPr>
          <p:cNvSpPr>
            <a:spLocks noGrp="1"/>
          </p:cNvSpPr>
          <p:nvPr/>
        </p:nvSpPr>
        <p:spPr>
          <a:xfrm>
            <a:off x="6610350" y="207645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9FB9C8"/>
                </a:solidFill>
              </a:defRPr>
            </a:pPr>
            <a:r>
              <a:rPr sz="1350" b="0">
                <a:solidFill>
                  <a:srgbClr val="9FB9C8"/>
                </a:solidFill>
              </a:rPr>
              <a:t>backend: Docker, ASP.NET Core, порт 8080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0589F460-9669-4464-93A4-5B3090B7C3BD}"/>
              </a:ext>
            </a:extLst>
          </p:cNvPr>
          <p:cNvSpPr>
            <a:spLocks noGrp="1"/>
          </p:cNvSpPr>
          <p:nvPr/>
        </p:nvSpPr>
        <p:spPr>
          <a:xfrm>
            <a:off x="876300" y="2857500"/>
            <a:ext cx="4762500" cy="876300"/>
          </a:xfrm>
          <a:prstGeom prst="roundRect">
            <a:avLst>
              <a:gd name="adj" fmla="val 13043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6A796B8-D6C4-4512-B62F-C333838EE37F}"/>
              </a:ext>
            </a:extLst>
          </p:cNvPr>
          <p:cNvSpPr>
            <a:spLocks noGrp="1"/>
          </p:cNvSpPr>
          <p:nvPr/>
        </p:nvSpPr>
        <p:spPr>
          <a:xfrm>
            <a:off x="1123950" y="30289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45D86A"/>
                </a:solidFill>
              </a:defRPr>
            </a:pPr>
            <a:r>
              <a:rPr sz="1800" b="1">
                <a:solidFill>
                  <a:srgbClr val="45D86A"/>
                </a:solidFill>
              </a:rPr>
              <a:t>PostgreSQL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894DD1A-0586-4FDD-B140-01A44523C607}"/>
              </a:ext>
            </a:extLst>
          </p:cNvPr>
          <p:cNvSpPr>
            <a:spLocks noGrp="1"/>
          </p:cNvSpPr>
          <p:nvPr/>
        </p:nvSpPr>
        <p:spPr>
          <a:xfrm>
            <a:off x="1123950" y="335280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9FB9C8"/>
                </a:solidFill>
              </a:defRPr>
            </a:pPr>
            <a:r>
              <a:rPr sz="1350" b="0">
                <a:solidFill>
                  <a:srgbClr val="9FB9C8"/>
                </a:solidFill>
              </a:rPr>
              <a:t>таблицы, миграции и seed данные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4F517766-F5D7-44EA-AC31-38FE1C5EED9A}"/>
              </a:ext>
            </a:extLst>
          </p:cNvPr>
          <p:cNvSpPr>
            <a:spLocks noGrp="1"/>
          </p:cNvSpPr>
          <p:nvPr/>
        </p:nvSpPr>
        <p:spPr>
          <a:xfrm>
            <a:off x="6362700" y="2857500"/>
            <a:ext cx="4762500" cy="876300"/>
          </a:xfrm>
          <a:prstGeom prst="roundRect">
            <a:avLst>
              <a:gd name="adj" fmla="val 13043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D050AA5-0E3B-4ACA-AE4C-03CE1907DC19}"/>
              </a:ext>
            </a:extLst>
          </p:cNvPr>
          <p:cNvSpPr>
            <a:spLocks noGrp="1"/>
          </p:cNvSpPr>
          <p:nvPr/>
        </p:nvSpPr>
        <p:spPr>
          <a:xfrm>
            <a:off x="6610350" y="30289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45D86A"/>
                </a:solidFill>
              </a:defRPr>
            </a:pPr>
            <a:r>
              <a:rPr sz="1800" b="1">
                <a:solidFill>
                  <a:srgbClr val="45D86A"/>
                </a:solidFill>
              </a:rPr>
              <a:t>Brevo SMTP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CE8668D-D3A4-4949-A0E7-EAD1B136EDFD}"/>
              </a:ext>
            </a:extLst>
          </p:cNvPr>
          <p:cNvSpPr>
            <a:spLocks noGrp="1"/>
          </p:cNvSpPr>
          <p:nvPr/>
        </p:nvSpPr>
        <p:spPr>
          <a:xfrm>
            <a:off x="6610350" y="335280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9FB9C8"/>
                </a:solidFill>
              </a:defRPr>
            </a:pPr>
            <a:r>
              <a:rPr sz="1350" b="0">
                <a:solidFill>
                  <a:srgbClr val="9FB9C8"/>
                </a:solidFill>
              </a:rPr>
              <a:t>письма для восстановления пароля</a:t>
            </a: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5BA60194-4855-47AB-8212-2071F568EDA7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4762500" cy="876300"/>
          </a:xfrm>
          <a:prstGeom prst="roundRect">
            <a:avLst>
              <a:gd name="adj" fmla="val 13043"/>
            </a:avLst>
          </a:prstGeom>
          <a:solidFill>
            <a:srgbClr val="101A22"/>
          </a:solidFill>
          <a:ln w="9525">
            <a:solidFill>
              <a:srgbClr val="29414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BE6589E-F92C-409B-A90A-51C0B993C720}"/>
              </a:ext>
            </a:extLst>
          </p:cNvPr>
          <p:cNvSpPr>
            <a:spLocks noGrp="1"/>
          </p:cNvSpPr>
          <p:nvPr/>
        </p:nvSpPr>
        <p:spPr>
          <a:xfrm>
            <a:off x="1123950" y="4305300"/>
            <a:ext cx="2831824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45D86A"/>
                </a:solidFill>
              </a:defRPr>
            </a:pPr>
            <a:r>
              <a:rPr sz="1800" b="1" dirty="0">
                <a:solidFill>
                  <a:srgbClr val="45D86A"/>
                </a:solidFill>
              </a:rPr>
              <a:t>Google + Telegram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26586F3-DBE2-4AFB-8DE3-DB0A7D83AD17}"/>
              </a:ext>
            </a:extLst>
          </p:cNvPr>
          <p:cNvSpPr>
            <a:spLocks noGrp="1"/>
          </p:cNvSpPr>
          <p:nvPr/>
        </p:nvSpPr>
        <p:spPr>
          <a:xfrm>
            <a:off x="1123950" y="462915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9FB9C8"/>
                </a:solidFill>
              </a:defRPr>
            </a:pPr>
            <a:r>
              <a:rPr sz="1350" b="0">
                <a:solidFill>
                  <a:srgbClr val="9FB9C8"/>
                </a:solidFill>
              </a:rPr>
              <a:t>быстрый вход через внешние аккаунты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60BE381-DF4D-4520-87B1-81AF4FB5351F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66808E"/>
                </a:solidFill>
              </a:defRPr>
            </a:pPr>
            <a:r>
              <a:rPr sz="975" b="0">
                <a:solidFill>
                  <a:srgbClr val="66808E"/>
                </a:solidFill>
              </a:rPr>
              <a:t>VaultTrade / защита проекта / 9</a:t>
            </a:r>
          </a:p>
        </p:txBody>
      </p:sp>
    </p:spTree>
    <p:extLst>
      <p:ext uri="{BB962C8B-B14F-4D97-AF65-F5344CB8AC3E}">
        <p14:creationId xmlns:p14="http://schemas.microsoft.com/office/powerpoint/2010/main" val="932038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442A030-4B58-4779-8D1A-389D156008EF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10001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3FFF6"/>
                </a:solidFill>
              </a:defRPr>
            </a:pPr>
            <a:r>
              <a:rPr sz="2850" b="1">
                <a:solidFill>
                  <a:srgbClr val="F3FFF6"/>
                </a:solidFill>
              </a:rPr>
              <a:t>На защите лучше показать один цельный путь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7C45B60-C448-4CBA-9389-4DF784FA41A5}"/>
              </a:ext>
            </a:extLst>
          </p:cNvPr>
          <p:cNvSpPr>
            <a:spLocks noGrp="1"/>
          </p:cNvSpPr>
          <p:nvPr/>
        </p:nvSpPr>
        <p:spPr>
          <a:xfrm>
            <a:off x="1143000" y="15621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45D86A"/>
                </a:solidFill>
              </a:defRPr>
            </a:pPr>
            <a:r>
              <a:rPr sz="1800" b="1">
                <a:solidFill>
                  <a:srgbClr val="45D86A"/>
                </a:solidFill>
              </a:rPr>
              <a:t>1.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734CF93-C694-4898-B430-7AFD097F2C67}"/>
              </a:ext>
            </a:extLst>
          </p:cNvPr>
          <p:cNvSpPr>
            <a:spLocks noGrp="1"/>
          </p:cNvSpPr>
          <p:nvPr/>
        </p:nvSpPr>
        <p:spPr>
          <a:xfrm>
            <a:off x="1657350" y="1562100"/>
            <a:ext cx="809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F3FFF6"/>
                </a:solidFill>
              </a:defRPr>
            </a:pPr>
            <a:r>
              <a:rPr sz="1800" b="0">
                <a:solidFill>
                  <a:srgbClr val="F3FFF6"/>
                </a:solidFill>
              </a:rPr>
              <a:t>войти или зарегистрироваться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2341F8C-400E-4A91-B9E5-319A73AD78A2}"/>
              </a:ext>
            </a:extLst>
          </p:cNvPr>
          <p:cNvSpPr>
            <a:spLocks noGrp="1"/>
          </p:cNvSpPr>
          <p:nvPr/>
        </p:nvSpPr>
        <p:spPr>
          <a:xfrm>
            <a:off x="1143000" y="22098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45D86A"/>
                </a:solidFill>
              </a:defRPr>
            </a:pPr>
            <a:r>
              <a:rPr sz="1800" b="1">
                <a:solidFill>
                  <a:srgbClr val="45D86A"/>
                </a:solidFill>
              </a:rPr>
              <a:t>2.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E938791-FCC9-4866-99EE-95F7722C6CA5}"/>
              </a:ext>
            </a:extLst>
          </p:cNvPr>
          <p:cNvSpPr>
            <a:spLocks noGrp="1"/>
          </p:cNvSpPr>
          <p:nvPr/>
        </p:nvSpPr>
        <p:spPr>
          <a:xfrm>
            <a:off x="1657350" y="2209800"/>
            <a:ext cx="809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F3FFF6"/>
                </a:solidFill>
              </a:defRPr>
            </a:pPr>
            <a:r>
              <a:rPr sz="1800" b="0">
                <a:solidFill>
                  <a:srgbClr val="F3FFF6"/>
                </a:solidFill>
              </a:rPr>
              <a:t>открыть каталог и страницу товара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C0D76B8-5E5B-40D2-ABD8-188689FCCFE3}"/>
              </a:ext>
            </a:extLst>
          </p:cNvPr>
          <p:cNvSpPr>
            <a:spLocks noGrp="1"/>
          </p:cNvSpPr>
          <p:nvPr/>
        </p:nvSpPr>
        <p:spPr>
          <a:xfrm>
            <a:off x="1143000" y="28575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45D86A"/>
                </a:solidFill>
              </a:defRPr>
            </a:pPr>
            <a:r>
              <a:rPr sz="1800" b="1">
                <a:solidFill>
                  <a:srgbClr val="45D86A"/>
                </a:solidFill>
              </a:rPr>
              <a:t>3.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6CCCBF2-2F77-4DF0-B012-E18D680E9433}"/>
              </a:ext>
            </a:extLst>
          </p:cNvPr>
          <p:cNvSpPr>
            <a:spLocks noGrp="1"/>
          </p:cNvSpPr>
          <p:nvPr/>
        </p:nvSpPr>
        <p:spPr>
          <a:xfrm>
            <a:off x="1657350" y="2857500"/>
            <a:ext cx="809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F3FFF6"/>
                </a:solidFill>
              </a:defRPr>
            </a:pPr>
            <a:r>
              <a:rPr sz="1800" b="0">
                <a:solidFill>
                  <a:srgbClr val="F3FFF6"/>
                </a:solidFill>
              </a:rPr>
              <a:t>написать продавцу и увидеть уведомление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7725B1B-107A-4785-831F-7E61C0036855}"/>
              </a:ext>
            </a:extLst>
          </p:cNvPr>
          <p:cNvSpPr>
            <a:spLocks noGrp="1"/>
          </p:cNvSpPr>
          <p:nvPr/>
        </p:nvSpPr>
        <p:spPr>
          <a:xfrm>
            <a:off x="1143000" y="35052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45D86A"/>
                </a:solidFill>
              </a:defRPr>
            </a:pPr>
            <a:r>
              <a:rPr sz="1800" b="1">
                <a:solidFill>
                  <a:srgbClr val="45D86A"/>
                </a:solidFill>
              </a:rPr>
              <a:t>4.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881ABF3-8678-4838-A43B-133F1D7C3F73}"/>
              </a:ext>
            </a:extLst>
          </p:cNvPr>
          <p:cNvSpPr>
            <a:spLocks noGrp="1"/>
          </p:cNvSpPr>
          <p:nvPr/>
        </p:nvSpPr>
        <p:spPr>
          <a:xfrm>
            <a:off x="1657350" y="3505200"/>
            <a:ext cx="809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F3FFF6"/>
                </a:solidFill>
              </a:defRPr>
            </a:pPr>
            <a:r>
              <a:rPr sz="1800" b="0">
                <a:solidFill>
                  <a:srgbClr val="F3FFF6"/>
                </a:solidFill>
              </a:rPr>
              <a:t>создать заказ и подтвердить товар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16934B1F-A585-40D6-B129-81F4DCAB5D72}"/>
              </a:ext>
            </a:extLst>
          </p:cNvPr>
          <p:cNvSpPr>
            <a:spLocks noGrp="1"/>
          </p:cNvSpPr>
          <p:nvPr/>
        </p:nvSpPr>
        <p:spPr>
          <a:xfrm>
            <a:off x="1143000" y="41529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45D86A"/>
                </a:solidFill>
              </a:defRPr>
            </a:pPr>
            <a:r>
              <a:rPr sz="1800" b="1">
                <a:solidFill>
                  <a:srgbClr val="45D86A"/>
                </a:solidFill>
              </a:rPr>
              <a:t>5.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78E709B-3B0E-4F76-92C9-6BBF680AA63B}"/>
              </a:ext>
            </a:extLst>
          </p:cNvPr>
          <p:cNvSpPr>
            <a:spLocks noGrp="1"/>
          </p:cNvSpPr>
          <p:nvPr/>
        </p:nvSpPr>
        <p:spPr>
          <a:xfrm>
            <a:off x="1657350" y="4152900"/>
            <a:ext cx="809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F3FFF6"/>
                </a:solidFill>
              </a:defRPr>
            </a:pPr>
            <a:r>
              <a:rPr sz="1800" b="0">
                <a:solidFill>
                  <a:srgbClr val="F3FFF6"/>
                </a:solidFill>
              </a:rPr>
              <a:t>оставить отзыв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3F61630-8076-4B8A-8554-44930E4588C5}"/>
              </a:ext>
            </a:extLst>
          </p:cNvPr>
          <p:cNvSpPr>
            <a:spLocks noGrp="1"/>
          </p:cNvSpPr>
          <p:nvPr/>
        </p:nvSpPr>
        <p:spPr>
          <a:xfrm>
            <a:off x="1143000" y="48006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45D86A"/>
                </a:solidFill>
              </a:defRPr>
            </a:pPr>
            <a:r>
              <a:rPr sz="1800" b="1">
                <a:solidFill>
                  <a:srgbClr val="45D86A"/>
                </a:solidFill>
              </a:rPr>
              <a:t>6.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B719DFE2-4903-4388-910E-BC331670FC18}"/>
              </a:ext>
            </a:extLst>
          </p:cNvPr>
          <p:cNvSpPr>
            <a:spLocks noGrp="1"/>
          </p:cNvSpPr>
          <p:nvPr/>
        </p:nvSpPr>
        <p:spPr>
          <a:xfrm>
            <a:off x="1657350" y="4800600"/>
            <a:ext cx="809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F3FFF6"/>
                </a:solidFill>
              </a:defRPr>
            </a:pPr>
            <a:r>
              <a:rPr sz="1800" b="0">
                <a:solidFill>
                  <a:srgbClr val="F3FFF6"/>
                </a:solidFill>
              </a:rPr>
              <a:t>зайти в админку и показать модерацию, роли, баланс, ограничения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4241080-730F-43E7-9373-B797ACAA2DC1}"/>
              </a:ext>
            </a:extLst>
          </p:cNvPr>
          <p:cNvSpPr>
            <a:spLocks noGrp="1"/>
          </p:cNvSpPr>
          <p:nvPr/>
        </p:nvSpPr>
        <p:spPr>
          <a:xfrm>
            <a:off x="914400" y="5810250"/>
            <a:ext cx="10363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7AF28E"/>
                </a:solidFill>
              </a:defRPr>
            </a:pPr>
            <a:r>
              <a:rPr sz="1800" b="1">
                <a:solidFill>
                  <a:srgbClr val="7AF28E"/>
                </a:solidFill>
              </a:rPr>
              <a:t>Главный вывод: это не только дизайн, а законченный marketplace-сценарий с backend-логикой, ролями, real-time и деплоем.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1A6344C-BC3D-4052-B1ED-584FC23E438A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66808E"/>
                </a:solidFill>
              </a:defRPr>
            </a:pPr>
            <a:r>
              <a:rPr sz="975" b="0">
                <a:solidFill>
                  <a:srgbClr val="66808E"/>
                </a:solidFill>
              </a:rPr>
              <a:t>VaultTrade / защита проекта / 10</a:t>
            </a:r>
          </a:p>
        </p:txBody>
      </p:sp>
    </p:spTree>
    <p:extLst>
      <p:ext uri="{BB962C8B-B14F-4D97-AF65-F5344CB8AC3E}">
        <p14:creationId xmlns:p14="http://schemas.microsoft.com/office/powerpoint/2010/main" val="120035803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603</Words>
  <Application>Microsoft Office PowerPoint</Application>
  <DocSecurity>0</DocSecurity>
  <PresentationFormat>Широкоэкранный</PresentationFormat>
  <Paragraphs>129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2" baseType="lpstr">
      <vt:lpstr>Calibri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Damaskin Nikita</cp:lastModifiedBy>
  <cp:revision>1</cp:revision>
  <dcterms:created xsi:type="dcterms:W3CDTF">2026-08-21T00:08:51Z</dcterms:created>
  <dcterms:modified xsi:type="dcterms:W3CDTF">2026-08-21T00:16:16Z</dcterms:modified>
</cp:coreProperties>
</file>