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d79fb7d7224227" /><Relationship Type="http://schemas.openxmlformats.org/officeDocument/2006/relationships/extended-properties" Target="/docProps/app.xml" Id="R40709272740d4918" /><Relationship Type="http://schemas.openxmlformats.org/officeDocument/2006/relationships/officeDocument" Target="/ppt/presentation.xml" Id="R043c1d04ddc8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e19aeff03441da"/>
  </p:sldMasterIdLst>
  <p:notesMasterIdLst>
    <p:notesMasterId xmlns:r="http://schemas.openxmlformats.org/officeDocument/2006/relationships" r:id="Raa2197e3f60d4a7b"/>
  </p:notesMasterIdLst>
  <p:sldIdLst>
    <p:sldId xmlns:r="http://schemas.openxmlformats.org/officeDocument/2006/relationships" id="256" r:id="R31ff358a7d114e14"/>
    <p:sldId xmlns:r="http://schemas.openxmlformats.org/officeDocument/2006/relationships" id="257" r:id="Rc91fef07b240497e"/>
    <p:sldId xmlns:r="http://schemas.openxmlformats.org/officeDocument/2006/relationships" id="258" r:id="R39923765d2824f17"/>
    <p:sldId xmlns:r="http://schemas.openxmlformats.org/officeDocument/2006/relationships" id="259" r:id="Rb7424a92d8be4db8"/>
    <p:sldId xmlns:r="http://schemas.openxmlformats.org/officeDocument/2006/relationships" id="260" r:id="R17bd131990254b92"/>
    <p:sldId xmlns:r="http://schemas.openxmlformats.org/officeDocument/2006/relationships" id="261" r:id="R470594f5e84e41d6"/>
    <p:sldId xmlns:r="http://schemas.openxmlformats.org/officeDocument/2006/relationships" id="262" r:id="R327c892fb5ba4578"/>
    <p:sldId xmlns:r="http://schemas.openxmlformats.org/officeDocument/2006/relationships" id="263" r:id="Rc9fce2f9e58f4d10"/>
    <p:sldId xmlns:r="http://schemas.openxmlformats.org/officeDocument/2006/relationships" id="264" r:id="Reb8699e659824738"/>
    <p:sldId xmlns:r="http://schemas.openxmlformats.org/officeDocument/2006/relationships" id="265" r:id="R1c6f8e777567459f"/>
    <p:sldId xmlns:r="http://schemas.openxmlformats.org/officeDocument/2006/relationships" id="266" r:id="R6e5e3af1093c4f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6eaff0662d4634" /><Relationship Type="http://schemas.openxmlformats.org/officeDocument/2006/relationships/slideMaster" Target="/ppt/slideMasters/slideMaster1.xml" Id="Ra6e19aeff03441da" /><Relationship Type="http://schemas.openxmlformats.org/officeDocument/2006/relationships/notesMaster" Target="/ppt/notesMasters/notesMaster1.xml" Id="Raa2197e3f60d4a7b" /><Relationship Type="http://schemas.openxmlformats.org/officeDocument/2006/relationships/presProps" Target="/ppt/presProps.xml" Id="R35d5ebd0c5274d61" /><Relationship Type="http://schemas.openxmlformats.org/officeDocument/2006/relationships/tableStyles" Target="/ppt/tableStyles.xml" Id="Re046ceb05616439f" /><Relationship Type="http://schemas.openxmlformats.org/officeDocument/2006/relationships/slide" Target="/ppt/slides/slide1.xml" Id="R31ff358a7d114e14" /><Relationship Type="http://schemas.openxmlformats.org/officeDocument/2006/relationships/slide" Target="/ppt/slides/slide2.xml" Id="Rc91fef07b240497e" /><Relationship Type="http://schemas.openxmlformats.org/officeDocument/2006/relationships/slide" Target="/ppt/slides/slide3.xml" Id="R39923765d2824f17" /><Relationship Type="http://schemas.openxmlformats.org/officeDocument/2006/relationships/slide" Target="/ppt/slides/slide4.xml" Id="Rb7424a92d8be4db8" /><Relationship Type="http://schemas.openxmlformats.org/officeDocument/2006/relationships/slide" Target="/ppt/slides/slide5.xml" Id="R17bd131990254b92" /><Relationship Type="http://schemas.openxmlformats.org/officeDocument/2006/relationships/slide" Target="/ppt/slides/slide6.xml" Id="R470594f5e84e41d6" /><Relationship Type="http://schemas.openxmlformats.org/officeDocument/2006/relationships/slide" Target="/ppt/slides/slide7.xml" Id="R327c892fb5ba4578" /><Relationship Type="http://schemas.openxmlformats.org/officeDocument/2006/relationships/slide" Target="/ppt/slides/slide8.xml" Id="Rc9fce2f9e58f4d10" /><Relationship Type="http://schemas.openxmlformats.org/officeDocument/2006/relationships/slide" Target="/ppt/slides/slide9.xml" Id="Reb8699e659824738" /><Relationship Type="http://schemas.openxmlformats.org/officeDocument/2006/relationships/slide" Target="/ppt/slides/slide10.xml" Id="R1c6f8e777567459f" /><Relationship Type="http://schemas.openxmlformats.org/officeDocument/2006/relationships/slide" Target="/ppt/slides/slide11.xml" Id="R6e5e3af1093c4f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123065e5e842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9bbb00f52e4433" /><Relationship Type="http://schemas.openxmlformats.org/officeDocument/2006/relationships/notesMaster" Target="/ppt/notesMasters/notesMaster1.xml" Id="Ra3e7576503c24f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6b63e354a544ff" /><Relationship Type="http://schemas.openxmlformats.org/officeDocument/2006/relationships/notesMaster" Target="/ppt/notesMasters/notesMaster1.xml" Id="R25ffc7a8c4134f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a5b0af44a5483b" /><Relationship Type="http://schemas.openxmlformats.org/officeDocument/2006/relationships/notesMaster" Target="/ppt/notesMasters/notesMaster1.xml" Id="R7be2c810ee644d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cf2da64fce4503" /><Relationship Type="http://schemas.openxmlformats.org/officeDocument/2006/relationships/notesMaster" Target="/ppt/notesMasters/notesMaster1.xml" Id="Rc2f09a4341f247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edc140a694fad" /><Relationship Type="http://schemas.openxmlformats.org/officeDocument/2006/relationships/notesMaster" Target="/ppt/notesMasters/notesMaster1.xml" Id="R030e9084b1b649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8f4300b7eb4630" /><Relationship Type="http://schemas.openxmlformats.org/officeDocument/2006/relationships/notesMaster" Target="/ppt/notesMasters/notesMaster1.xml" Id="R7439bbe37a9448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f296539c264798" /><Relationship Type="http://schemas.openxmlformats.org/officeDocument/2006/relationships/notesMaster" Target="/ppt/notesMasters/notesMaster1.xml" Id="R2d2523bdba9b4e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029a7f390049e3" /><Relationship Type="http://schemas.openxmlformats.org/officeDocument/2006/relationships/notesMaster" Target="/ppt/notesMasters/notesMaster1.xml" Id="R47e5fe3c763442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4bc0beb0a647e9" /><Relationship Type="http://schemas.openxmlformats.org/officeDocument/2006/relationships/notesMaster" Target="/ppt/notesMasters/notesMaster1.xml" Id="Rf4541105d39d44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c35655e59a4258" /><Relationship Type="http://schemas.openxmlformats.org/officeDocument/2006/relationships/notesMaster" Target="/ppt/notesMasters/notesMaster1.xml" Id="R3e7e54c7fbe94c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a5c41d774e4769" /><Relationship Type="http://schemas.openxmlformats.org/officeDocument/2006/relationships/notesMaster" Target="/ppt/notesMasters/notesMaster1.xml" Id="Rc96297b9920c40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8cfd25a8942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3f910743b43f7" /><Relationship Type="http://schemas.openxmlformats.org/officeDocument/2006/relationships/slideLayout" Target="/ppt/slideLayouts/slideLayout1.xml" Id="R095dcc2b38a645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dcc2b38a645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137b77cdb431c" /><Relationship Type="http://schemas.openxmlformats.org/officeDocument/2006/relationships/notesSlide" Target="/ppt/notesSlides/notesSlide1.xml" Id="R4f6997b73ebb46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3f35a838845d6" /><Relationship Type="http://schemas.openxmlformats.org/officeDocument/2006/relationships/notesSlide" Target="/ppt/notesSlides/notesSlide2.xml" Id="R859fbda3e2ea4c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c9b0d834748b1" /><Relationship Type="http://schemas.openxmlformats.org/officeDocument/2006/relationships/notesSlide" Target="/ppt/notesSlides/notesSlide3.xml" Id="Ref9f33a4137240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b90d3d81e4939" /><Relationship Type="http://schemas.openxmlformats.org/officeDocument/2006/relationships/notesSlide" Target="/ppt/notesSlides/notesSlide4.xml" Id="Rfbab8453195248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757c51a06414a" /><Relationship Type="http://schemas.openxmlformats.org/officeDocument/2006/relationships/notesSlide" Target="/ppt/notesSlides/notesSlide5.xml" Id="R958da9a8d4a042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494545fdd474e" /><Relationship Type="http://schemas.openxmlformats.org/officeDocument/2006/relationships/notesSlide" Target="/ppt/notesSlides/notesSlide6.xml" Id="Ra84af8f4f6c448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dc7a9b12e4c09" /><Relationship Type="http://schemas.openxmlformats.org/officeDocument/2006/relationships/notesSlide" Target="/ppt/notesSlides/notesSlide7.xml" Id="R4f0bf77e91e740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c99f612f2407e" /><Relationship Type="http://schemas.openxmlformats.org/officeDocument/2006/relationships/notesSlide" Target="/ppt/notesSlides/notesSlide8.xml" Id="R8511af42e6cc4a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b0debae544d53" /><Relationship Type="http://schemas.openxmlformats.org/officeDocument/2006/relationships/notesSlide" Target="/ppt/notesSlides/notesSlide9.xml" Id="R88d65400d8e44a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5bf78bdd946d1" /><Relationship Type="http://schemas.openxmlformats.org/officeDocument/2006/relationships/notesSlide" Target="/ppt/notesSlides/notesSlide10.xml" Id="R7af5cc62a0a946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93b75e16b46b4" /><Relationship Type="http://schemas.openxmlformats.org/officeDocument/2006/relationships/notesSlide" Target="/ppt/notesSlides/notesSlide11.xml" Id="Ra663e37d970040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DFAAA-32FC-487A-81B0-FC78297A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BFC65-C093-4729-A70E-170508C5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3D5B7-246B-42E6-B53E-09B756C2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67862-8040-49DE-9567-2C19630E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5DE6F-7C48-401F-B312-F6B3A50A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3048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D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54F4B-60BF-4F6F-B257-5942CB57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667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маркетплейс цифровых товаров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AEDEB-0636-429A-9A4D-DFE2A9AA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5FFF7"/>
                </a:solidFill>
              </a:defRPr>
            </a:pPr>
            <a:r>
              <a:rPr sz="5400" b="1">
                <a:solidFill>
                  <a:srgbClr val="F5FFF7"/>
                </a:solidFill>
              </a:rPr>
              <a:t>VaultTrade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34959-EB82-4A15-8452-5622AD5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619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B9CB"/>
                </a:solidFill>
              </a:defRPr>
            </a:pPr>
            <a:r>
              <a:rPr sz="2025" b="0">
                <a:solidFill>
                  <a:srgbClr val="9DB9CB"/>
                </a:solidFill>
              </a:rPr>
              <a:t>Платформа для покупки и продажи аккаунтов, ключей, подписок, игровых предметов и цифровых услуг через внутреннюю валюту VT.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2298D-0E83-456E-9694-9B49B819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0480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C24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3C751-D05C-45A2-9F91-B8806FB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54E36D"/>
                </a:solidFill>
              </a:defRPr>
            </a:pPr>
            <a:r>
              <a:rPr sz="5100" b="1">
                <a:solidFill>
                  <a:srgbClr val="54E36D"/>
                </a:solidFill>
              </a:rPr>
              <a:t>VT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45F66-E592-49BB-B179-6A0D1DA2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2324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9DB9CB"/>
                </a:solidFill>
              </a:defRPr>
            </a:pPr>
            <a:r>
              <a:rPr sz="1800" b="0">
                <a:solidFill>
                  <a:srgbClr val="9DB9CB"/>
                </a:solidFill>
              </a:rPr>
              <a:t>чат · модерация · роли · отзывы · споры · промокоды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66CC6-4B70-4815-9B9B-043B49A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4E36D"/>
                </a:solidFill>
              </a:defRPr>
            </a:pPr>
            <a:r>
              <a:rPr sz="1500" b="1">
                <a:solidFill>
                  <a:srgbClr val="54E36D"/>
                </a:solidFill>
              </a:rPr>
              <a:t>Защита проекта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BE5F6-19AB-485D-A884-810F7231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7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9DB9CB"/>
                </a:solidFill>
              </a:defRPr>
            </a:pPr>
            <a:r>
              <a:rPr sz="1500" b="0">
                <a:solidFill>
                  <a:srgbClr val="9DB9CB"/>
                </a:solidFill>
              </a:rPr>
              <a:t>ASP.NET Core + React</a:t>
            </a:r>
          </a:p>
        </p:txBody>
      </p:sp>
    </p:spTree>
    <p:extLst>
      <p:ext uri="{BB962C8B-B14F-4D97-AF65-F5344CB8AC3E}">
        <p14:creationId xmlns:p14="http://schemas.microsoft.com/office/powerpoint/2010/main" val="2011441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AE27C6-C030-4789-843F-88E87091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5169F-8EF0-4525-9215-6BD3147E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91092-4797-4172-B135-69E9017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42BAE-7EFE-480E-B7BC-3EBA263A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828AA-7A02-4D2A-A420-5DDD64EB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Проект решает проблему безопасной сделки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C0DB2-9A87-47A4-BE2C-D2F2C7CF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8618B-C8DB-4DC8-BFA2-6381AC4F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BF203-F810-48ED-B07E-199CFC4E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DB9CB"/>
                </a:solidFill>
              </a:defRPr>
            </a:pPr>
            <a:r>
              <a:rPr sz="1650" b="0">
                <a:solidFill>
                  <a:srgbClr val="9DB9CB"/>
                </a:solidFill>
              </a:rPr>
              <a:t>В обычной покупке цифрового товара есть риск: покупатель может не получить товар, а продавец может не получить оплату. VaultTrade добавляет промежуточный сценарий с проверкой товара, чатом и подтверждением заказа.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070DE-ACF0-4870-B82D-4A047D06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43BC9-25F7-4D86-A8D9-4A6997FA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E8"/>
          </a:solidFill>
          <a:ln xmlns:a="http://schemas.openxmlformats.org/drawingml/2006/main" w="0">
            <a:solidFill>
              <a:srgbClr val="36B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12285-F87F-4F82-A0E1-B3E3AAC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Покупатель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CE3F6-5C11-41C8-B5C8-F1C66FA8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781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находит товар, пишет продавцу, проверяет полученное и только потом подтверждает заказ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202AC-911A-4527-98F2-43BAD1EF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EF0FA-5858-49BC-9DA9-C2432CCF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36D"/>
          </a:solidFill>
          <a:ln xmlns:a="http://schemas.openxmlformats.org/drawingml/2006/main" w="0">
            <a:solidFill>
              <a:srgbClr val="54E3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B2570-BE3F-482D-BC56-AA3330A3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Продавец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833F6-9EF9-4896-AE69-92B4DC9E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76600"/>
            <a:ext cx="2781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создает объявления, получает уведомления о заказах и деньги после подтверждения покупателем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73B80-09B9-4D90-B23C-756CA4B3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3238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F5E92-496C-4BCD-B9D5-43BBFF04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04D"/>
          </a:solidFill>
          <a:ln xmlns:a="http://schemas.openxmlformats.org/drawingml/2006/main" w="0">
            <a:solidFill>
              <a:srgbClr val="F4C0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E363F-1735-496E-8370-7E9D78E7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Администрация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A9D16-1673-44AE-81B6-1EB8EA1B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781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модерирует объявления, управляет ролями, балансами, промокодами и спорными ситуациями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24D3D-185C-4F4D-8284-E7C7285C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Главная идея: деньги и товар проходят через понятный процесс, а не через хаотичный обмен сообщениями.</a:t>
            </a:r>
          </a:p>
        </p:txBody>
      </p:sp>
    </p:spTree>
    <p:extLst>
      <p:ext uri="{BB962C8B-B14F-4D97-AF65-F5344CB8AC3E}">
        <p14:creationId xmlns:p14="http://schemas.microsoft.com/office/powerpoint/2010/main" val="381922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135CF-68FA-411D-8B38-82EAFA6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979B3-C12A-4627-8E1C-A7A7039F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44BCE-4708-4808-8F17-66D6A0E3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4E928-0C0B-4D24-B804-DA489CCD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99C93-B29C-4B05-B8C7-DF040251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В системе есть четыре роли с разными правами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D8EE6-028F-4571-B75F-CE2BB04F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5E6B6-BCF1-4C17-A327-70D0A726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0BF1E-3AF0-4E05-99D3-69285730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47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F5D93-F283-47A2-B273-DFED14EF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FF7"/>
                </a:solidFill>
              </a:defRPr>
            </a:pPr>
            <a:r>
              <a:rPr sz="1950" b="1">
                <a:solidFill>
                  <a:srgbClr val="F5FFF7"/>
                </a:solidFill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C5576-054F-431A-9638-09D8A24E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907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B9CB"/>
                </a:solidFill>
              </a:defRPr>
            </a:pPr>
            <a:r>
              <a:rPr sz="1500" b="0">
                <a:solidFill>
                  <a:srgbClr val="9DB9CB"/>
                </a:solidFill>
              </a:rPr>
              <a:t>покупки, чат, избранное, отзывы, история заказов, промокоды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C73EB-59BB-4C49-B874-0FED3962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1047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44F99-4EE1-44D7-B26F-C131C45E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FF7"/>
                </a:solidFill>
              </a:defRPr>
            </a:pPr>
            <a:r>
              <a:rPr sz="1950" b="1">
                <a:solidFill>
                  <a:srgbClr val="F5FFF7"/>
                </a:solidFill>
              </a:rPr>
              <a:t>Seller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995E3-EFED-4599-990B-D42D924F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B9CB"/>
                </a:solidFill>
              </a:defRPr>
            </a:pPr>
            <a:r>
              <a:rPr sz="1500" b="0">
                <a:solidFill>
                  <a:srgbClr val="9DB9CB"/>
                </a:solidFill>
              </a:rPr>
              <a:t>создание и CRUD объявлений, панель продавца, работа с заказами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D1FA2-014E-4DBF-A19E-F112F4DA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1047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0E113-0A77-43D6-8753-3E5B55FA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FF7"/>
                </a:solidFill>
              </a:defRPr>
            </a:pPr>
            <a:r>
              <a:rPr sz="1950" b="1">
                <a:solidFill>
                  <a:srgbClr val="F5FFF7"/>
                </a:solidFill>
              </a:rPr>
              <a:t>Moderator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51FE1-245F-447A-9671-508B058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B9CB"/>
                </a:solidFill>
              </a:defRPr>
            </a:pPr>
            <a:r>
              <a:rPr sz="1500" b="0">
                <a:solidFill>
                  <a:srgbClr val="9DB9CB"/>
                </a:solidFill>
              </a:rPr>
              <a:t>одобрение и отклонение объявлений, поддержка пользователей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99C33-BD30-4B95-B7D1-84E28CE2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47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241E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DFD0A-D17C-465C-BB72-D898622E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4E36D"/>
                </a:solidFill>
              </a:defRPr>
            </a:pPr>
            <a:r>
              <a:rPr sz="1950" b="1">
                <a:solidFill>
                  <a:srgbClr val="54E36D"/>
                </a:solidFill>
              </a:rPr>
              <a:t>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E9228-987C-463B-B7D9-23BBCF8C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9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DB9CB"/>
                </a:solidFill>
              </a:defRPr>
            </a:pPr>
            <a:r>
              <a:rPr sz="1500" b="0">
                <a:solidFill>
                  <a:srgbClr val="9DB9CB"/>
                </a:solidFill>
              </a:rPr>
              <a:t>пользователи, роли, баланс VT, блокировки, промокоды, модерация</a:t>
            </a:r>
          </a:p>
        </p:txBody>
      </p:sp>
    </p:spTree>
    <p:extLst>
      <p:ext uri="{BB962C8B-B14F-4D97-AF65-F5344CB8AC3E}">
        <p14:creationId xmlns:p14="http://schemas.microsoft.com/office/powerpoint/2010/main" val="709421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8648B-EB51-4192-95B3-733CD0A1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4BEEC-2C98-4B99-87E6-DCBB786C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32BCF-4174-4520-A843-ABA8FD05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F7B31-1548-46D9-B153-7A52A871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D3ABC-7A72-4FC6-97CD-4C28C28B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Фронтенд и backend разделены, но работают как одна система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2FE8F-920C-4016-B0FE-3DEECACE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B5006-D4E6-41EA-A917-694ED871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97E47-53E1-42DB-8DF6-D5825A57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048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647BB-D3AE-4315-95FD-0B5A1CE7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E8"/>
          </a:solidFill>
          <a:ln xmlns:a="http://schemas.openxmlformats.org/drawingml/2006/main" w="0">
            <a:solidFill>
              <a:srgbClr val="36B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2762F-7D82-4424-8C1F-822ABCE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1B4E1-7D5E-40B5-B645-E2FF6D0E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591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React 19, TypeScript, Vite, Material UI, Redux Toolkit, Axios, React Router, SCSS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AC408-929B-4021-A80B-3B358705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5048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4DE65-132B-47D2-BBDB-8BFAA1C8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36D"/>
          </a:solidFill>
          <a:ln xmlns:a="http://schemas.openxmlformats.org/drawingml/2006/main" w="0">
            <a:solidFill>
              <a:srgbClr val="54E3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7A423-B2F2-4211-ABB8-F290F9A1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323EF-79F9-4F86-8128-48E7E1A2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4591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ASP.NET Core .NET 10, Entity Framework Core, PostgreSQL, JWT, SignalR, SMTP, Docker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2AA9F-DF41-4083-AF7C-AFE08606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48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9F022-64D8-4037-AF9C-B36AEFD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04D"/>
          </a:solidFill>
          <a:ln xmlns:a="http://schemas.openxmlformats.org/drawingml/2006/main" w="0">
            <a:solidFill>
              <a:srgbClr val="F4C0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A3E3C-BE4B-4CC3-8330-36FAEBA1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Интеграции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9BDDE-C163-4C0F-9561-06CAC2F4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59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Google Identity, Telegram OIDC, Brevo SMTP, Render, Vercel, Render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090F8-EDEA-484C-87A6-6A62D013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048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C07D68-9EBE-4FFE-873D-2AF6EB65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59"/>
          </a:solidFill>
          <a:ln xmlns:a="http://schemas.openxmlformats.org/drawingml/2006/main" w="0">
            <a:solidFill>
              <a:srgbClr val="2FCB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38722-B093-46CC-9CA3-6A141E98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Архитектура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B9B4A-62AC-4B8F-BA82-CBB7613C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59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API, Application, Domain и Infrastructure разделяют контроллеры, бизнес-логику, сущности и работу с внешними сервисами</a:t>
            </a:r>
          </a:p>
        </p:txBody>
      </p:sp>
    </p:spTree>
    <p:extLst>
      <p:ext uri="{BB962C8B-B14F-4D97-AF65-F5344CB8AC3E}">
        <p14:creationId xmlns:p14="http://schemas.microsoft.com/office/powerpoint/2010/main" val="240654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A1617-9093-4C5E-A55C-5A960638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89315-6E41-4E04-87C5-DDAC86B0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3C71A-D6F7-4CD3-966E-1ECA79F8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262CA-E2C6-400C-AE71-25ED5002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DB229-573A-4A29-8342-AE52DF47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Архитектура проекта показывает полный путь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81346-8442-4257-96B4-31FD435F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E7EFC-53B3-4D38-BA28-3FCCF37F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1205C-3319-429D-B2F0-7C0B6DD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2202A"/>
          </a:solidFill>
          <a:ln xmlns:a="http://schemas.openxmlformats.org/drawingml/2006/main" w="9525">
            <a:solidFill>
              <a:srgbClr val="36B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3B763-E552-48D0-BE5F-3BF9CCB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6B7E8"/>
                </a:solidFill>
              </a:defRPr>
            </a:pPr>
            <a:r>
              <a:rPr sz="1800" b="1">
                <a:solidFill>
                  <a:srgbClr val="36B7E8"/>
                </a:solidFill>
              </a:rPr>
              <a:t>Vercel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1F0FD-095B-4A2E-AAE4-6FDDE889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5FFF7"/>
                </a:solidFill>
              </a:defRPr>
            </a:pPr>
            <a:r>
              <a:rPr sz="1425" b="0">
                <a:solidFill>
                  <a:srgbClr val="F5FFF7"/>
                </a:solidFill>
              </a:rPr>
              <a:t>React SPA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A69AB-F1D0-45CE-AA1C-2D2AFD92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2241B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BEBBB-C757-4FFF-A9CD-38AE788E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19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E36D"/>
                </a:solidFill>
              </a:defRPr>
            </a:pPr>
            <a:r>
              <a:rPr sz="1800" b="1">
                <a:solidFill>
                  <a:srgbClr val="54E36D"/>
                </a:solidFill>
              </a:rPr>
              <a:t>Render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52853-EED7-4604-BBB2-7FD7796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5FFF7"/>
                </a:solidFill>
              </a:defRPr>
            </a:pPr>
            <a:r>
              <a:rPr sz="1425" b="0">
                <a:solidFill>
                  <a:srgbClr val="F5FFF7"/>
                </a:solidFill>
              </a:rPr>
              <a:t>ASP.NET Core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4DE34-6A97-4FEC-B86F-861CFCF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41F13"/>
          </a:solidFill>
          <a:ln xmlns:a="http://schemas.openxmlformats.org/drawingml/2006/main" w="9525">
            <a:solidFill>
              <a:srgbClr val="F4C0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00D1A-D858-4FCE-912E-2AFF7E7C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C04D"/>
                </a:solidFill>
              </a:defRPr>
            </a:pPr>
            <a:r>
              <a:rPr sz="1800" b="1">
                <a:solidFill>
                  <a:srgbClr val="F4C04D"/>
                </a:solidFill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1CF85-ED76-4B6E-9A34-DB51A5A8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5FFF7"/>
                </a:solidFill>
              </a:defRPr>
            </a:pPr>
            <a:r>
              <a:rPr sz="1425" b="0">
                <a:solidFill>
                  <a:srgbClr val="F5FFF7"/>
                </a:solidFill>
              </a:rPr>
              <a:t>данные сайта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0EC11-DA0F-4D46-A8FD-DEBC07F1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DB9CB"/>
                </a:solidFill>
              </a:defRPr>
            </a:pPr>
            <a:r>
              <a:rPr sz="1350" b="1">
                <a:solidFill>
                  <a:srgbClr val="9DB9CB"/>
                </a:solidFill>
              </a:rPr>
              <a:t>HTTP / Axios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55D2C-8C58-4BD4-AEBE-6355F8B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DB9CB"/>
                </a:solidFill>
              </a:defRPr>
            </a:pPr>
            <a:r>
              <a:rPr sz="1350" b="1">
                <a:solidFill>
                  <a:srgbClr val="9DB9CB"/>
                </a:solidFill>
              </a:rPr>
              <a:t>EF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88230-8E71-48E4-A1C1-274B73B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166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42581-C685-48DD-9CFC-8214D2D2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166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DCAF6-CC3E-473C-9FA3-D7C12FCA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266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2FB6C-C453-4C46-8432-427AB20E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E36D"/>
                </a:solidFill>
              </a:defRPr>
            </a:pPr>
            <a:r>
              <a:rPr sz="1800" b="1">
                <a:solidFill>
                  <a:srgbClr val="54E36D"/>
                </a:solidFill>
              </a:rPr>
              <a:t>SignalR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3310F6-C71B-42B9-B5B4-3A66F256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86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чаты и уведомления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B0E35-ECC3-4A4C-95E9-58273083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66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D4AEA-DB9B-4C3F-BCCA-47521F1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05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6B7E8"/>
                </a:solidFill>
              </a:defRPr>
            </a:pPr>
            <a:r>
              <a:rPr sz="1800" b="1">
                <a:solidFill>
                  <a:srgbClr val="36B7E8"/>
                </a:solidFill>
              </a:rPr>
              <a:t>OAuth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B176D1-6835-46BE-A121-7A7D43BC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86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Google и Telegram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53C82D-3464-42EE-80C4-3E878EF9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667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47992-592A-4F17-A16E-22D5639F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C04D"/>
                </a:solidFill>
              </a:defRPr>
            </a:pPr>
            <a:r>
              <a:rPr sz="1800" b="1">
                <a:solidFill>
                  <a:srgbClr val="F4C04D"/>
                </a:solidFill>
              </a:rPr>
              <a:t>SMTP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E84AFC-51C4-4809-B020-3604A20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86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восстановление пароля</a:t>
            </a:r>
          </a:p>
        </p:txBody>
      </p:sp>
    </p:spTree>
    <p:extLst>
      <p:ext uri="{BB962C8B-B14F-4D97-AF65-F5344CB8AC3E}">
        <p14:creationId xmlns:p14="http://schemas.microsoft.com/office/powerpoint/2010/main" val="973890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6A0AC-FE46-415E-B1AF-B2331981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9090D-76C6-4847-B814-AF754870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5C0B8-18FB-4C34-A708-CA158B63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745D0-5EF6-4557-B340-76CD59E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ECB6D-D253-4E9B-8DF3-C68F276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Покупка построена вокруг подтверждения товара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AE0DE-7636-4374-9134-360753D8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2247E-F48E-4558-8731-1EA5FDC4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07693-AD8B-4208-ADC5-95CB633B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6E2BC-E822-4F26-B7B5-C8A3A1C6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CA2F2-2CBC-4E89-9D5E-F1D5EC05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E36D"/>
                </a:solidFill>
              </a:defRPr>
            </a:pPr>
            <a:r>
              <a:rPr sz="1800" b="1">
                <a:solidFill>
                  <a:srgbClr val="54E36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3B7FB-3F69-4A78-B552-DA4A181C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954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FF7"/>
                </a:solidFill>
              </a:defRPr>
            </a:pPr>
            <a:r>
              <a:rPr sz="1650" b="1">
                <a:solidFill>
                  <a:srgbClr val="F5FFF7"/>
                </a:solidFill>
              </a:rPr>
              <a:t>Каталог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3308E-03A6-465A-B3A7-6EB7119C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9CB"/>
                </a:solidFill>
              </a:defRPr>
            </a:pPr>
            <a:r>
              <a:rPr sz="1200" b="0">
                <a:solidFill>
                  <a:srgbClr val="9DB9CB"/>
                </a:solidFill>
              </a:rPr>
              <a:t>покупатель выбирает объявление и видит продавца, остаток, цену и отзывы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3B27D-5DA7-475A-B3A3-4E6CF02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9019E-5298-46E0-A6FE-F449F4F5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8C1D7-F6F8-4E6B-8EA4-37962E9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383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E36D"/>
                </a:solidFill>
              </a:defRPr>
            </a:pPr>
            <a:r>
              <a:rPr sz="1800" b="1">
                <a:solidFill>
                  <a:srgbClr val="54E36D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24D38-92F0-46CF-B825-2149AC2F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954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FF7"/>
                </a:solidFill>
              </a:defRPr>
            </a:pPr>
            <a:r>
              <a:rPr sz="1650" b="1">
                <a:solidFill>
                  <a:srgbClr val="F5FFF7"/>
                </a:solidFill>
              </a:rPr>
              <a:t>Чат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4428B-E726-4D18-8F3E-A934711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025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9CB"/>
                </a:solidFill>
              </a:defRPr>
            </a:pPr>
            <a:r>
              <a:rPr sz="1200" b="0">
                <a:solidFill>
                  <a:srgbClr val="9DB9CB"/>
                </a:solidFill>
              </a:rPr>
              <a:t>чат открывается, когда покупатель сам пишет продавцу по товару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12340-1881-4D33-B556-890757A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AC855-4BE7-479F-A986-D3BACB67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11FB7-4870-4B6E-8BB2-BD31A0B4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E36D"/>
                </a:solidFill>
              </a:defRPr>
            </a:pPr>
            <a:r>
              <a:rPr sz="1800" b="1">
                <a:solidFill>
                  <a:srgbClr val="54E36D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0DBCE-415D-4D5F-B39C-D2C75291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242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FF7"/>
                </a:solidFill>
              </a:defRPr>
            </a:pPr>
            <a:r>
              <a:rPr sz="1650" b="1">
                <a:solidFill>
                  <a:srgbClr val="F5FFF7"/>
                </a:solidFill>
              </a:rPr>
              <a:t>Заказ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E64C6-0308-4434-92D1-F12318BB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9CB"/>
                </a:solidFill>
              </a:defRPr>
            </a:pPr>
            <a:r>
              <a:rPr sz="1200" b="0">
                <a:solidFill>
                  <a:srgbClr val="9DB9CB"/>
                </a:solidFill>
              </a:rPr>
              <a:t>при покупке проверяется баланс VT, товар резервируется, но деньги не уходят сразу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DE341-62B7-4A71-B7A4-2D534AAF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A8413-9866-4780-ACBF-49727C3E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B0492-A9D1-4ECA-B936-CB4F0CC6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67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E36D"/>
                </a:solidFill>
              </a:defRPr>
            </a:pPr>
            <a:r>
              <a:rPr sz="1800" b="1">
                <a:solidFill>
                  <a:srgbClr val="54E36D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82CAD-2A2B-4AB1-8691-15A7A53D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FF7"/>
                </a:solidFill>
              </a:defRPr>
            </a:pPr>
            <a:r>
              <a:rPr sz="1650" b="1">
                <a:solidFill>
                  <a:srgbClr val="F5FFF7"/>
                </a:solidFill>
              </a:rPr>
              <a:t>Подтверждение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55FD25-DBEF-4B8F-9AEA-65EAD93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2900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9CB"/>
                </a:solidFill>
              </a:defRPr>
            </a:pPr>
            <a:r>
              <a:rPr sz="1200" b="0">
                <a:solidFill>
                  <a:srgbClr val="9DB9CB"/>
                </a:solidFill>
              </a:rPr>
              <a:t>после проверки покупатель подтверждает заказ, баланс списывается и начисляется продавцу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45CFE-F0D9-491A-A263-826D184B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24375"/>
            <a:ext cx="514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418B76-FCC6-415B-91A2-C4E322DC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336555-720C-40A7-B87B-2A19FE1C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38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E36D"/>
                </a:solidFill>
              </a:defRPr>
            </a:pPr>
            <a:r>
              <a:rPr sz="1800" b="1">
                <a:solidFill>
                  <a:srgbClr val="54E36D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CE66F-D647-4E80-9817-91B511E1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95825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FF7"/>
                </a:solidFill>
              </a:defRPr>
            </a:pPr>
            <a:r>
              <a:rPr sz="1650" b="1">
                <a:solidFill>
                  <a:srgbClr val="F5FFF7"/>
                </a:solidFill>
              </a:rPr>
              <a:t>Отзыв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60D75-A27A-483D-A131-EBE14C8C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00625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DB9CB"/>
                </a:solidFill>
              </a:defRPr>
            </a:pPr>
            <a:r>
              <a:rPr sz="1200" b="0">
                <a:solidFill>
                  <a:srgbClr val="9DB9CB"/>
                </a:solidFill>
              </a:rPr>
              <a:t>после завершения сделки покупатель оставляет публичный отзыв продавцу</a:t>
            </a:r>
          </a:p>
        </p:txBody>
      </p:sp>
    </p:spTree>
    <p:extLst>
      <p:ext uri="{BB962C8B-B14F-4D97-AF65-F5344CB8AC3E}">
        <p14:creationId xmlns:p14="http://schemas.microsoft.com/office/powerpoint/2010/main" val="11205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E2AB3-FB22-4495-B674-1894487F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DCE8D-1260-432B-AACD-01FEF996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FC0FE-3BC4-4B12-82CE-09DDA101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431B0-67FD-4382-BC50-878527BB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5D676-B8A7-4EF5-9961-5DA4476D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Real-time делает сайт живым без обновления страницы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3A0E2-518A-4569-80EC-187CC4E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AF1BD-8073-41AD-A40F-A7AE54DA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75BA7-3CE1-4C01-865F-98AFD206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DB9CB"/>
                </a:solidFill>
              </a:defRPr>
            </a:pPr>
            <a:r>
              <a:rPr sz="1725" b="0">
                <a:solidFill>
                  <a:srgbClr val="9DB9CB"/>
                </a:solidFill>
              </a:rPr>
              <a:t>SignalR передает события в интерфейс сразу: новые сообщения, заказы, споры, модерация, изменения баланса и уведомления.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2E534-0AE6-4BD8-B51D-0F860A7E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B2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C6B9B-94CE-4E15-BF13-D972FEE8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4E36D"/>
                </a:solidFill>
              </a:defRPr>
            </a:pPr>
            <a:r>
              <a:rPr sz="2850" b="1">
                <a:solidFill>
                  <a:srgbClr val="54E36D"/>
                </a:solidFill>
              </a:rPr>
              <a:t>чат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E7819-3597-4C64-9A21-AFE9F39F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9CB"/>
                </a:solidFill>
              </a:defRPr>
            </a:pPr>
            <a:r>
              <a:rPr sz="1275" b="0">
                <a:solidFill>
                  <a:srgbClr val="9DB9CB"/>
                </a:solidFill>
              </a:rPr>
              <a:t>сообщения с датой и временем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8F013-4D96-4E3F-B4BF-BFB1CB47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B2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7831E-DA63-4B2E-8F06-AF8120B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6B7E8"/>
                </a:solidFill>
              </a:defRPr>
            </a:pPr>
            <a:r>
              <a:rPr sz="2850" b="1">
                <a:solidFill>
                  <a:srgbClr val="36B7E8"/>
                </a:solidFill>
              </a:rPr>
              <a:t>toast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C8D42-FDDF-4EF8-88FB-08AD1F46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9CB"/>
                </a:solidFill>
              </a:defRPr>
            </a:pPr>
            <a:r>
              <a:rPr sz="1275" b="0">
                <a:solidFill>
                  <a:srgbClr val="9DB9CB"/>
                </a:solidFill>
              </a:rPr>
              <a:t>короткие важные события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AEB3A-2946-463F-B9BA-80302144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B2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0AD49-16DB-41F7-8E7C-E2BE02B3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C04D"/>
                </a:solidFill>
              </a:defRPr>
            </a:pPr>
            <a:r>
              <a:rPr sz="2850" b="1">
                <a:solidFill>
                  <a:srgbClr val="F4C04D"/>
                </a:solidFill>
              </a:rPr>
              <a:t>bell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EDBB8-EF9A-4663-AF16-7EE8F079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9CB"/>
                </a:solidFill>
              </a:defRPr>
            </a:pPr>
            <a:r>
              <a:rPr sz="1275" b="0">
                <a:solidFill>
                  <a:srgbClr val="9DB9CB"/>
                </a:solidFill>
              </a:rPr>
              <a:t>dropdown уведомлений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DA67A-79B7-4D8F-8910-5A5DD94D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1B2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65FF2-5073-4C32-A12F-9E9FF79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81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4E36D"/>
                </a:solidFill>
              </a:defRPr>
            </a:pPr>
            <a:r>
              <a:rPr sz="2850" b="1">
                <a:solidFill>
                  <a:srgbClr val="54E36D"/>
                </a:solidFill>
              </a:rPr>
              <a:t>sound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F33CF-A2A4-4232-968F-4A904089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DB9CB"/>
                </a:solidFill>
              </a:defRPr>
            </a:pPr>
            <a:r>
              <a:rPr sz="1275" b="0">
                <a:solidFill>
                  <a:srgbClr val="9DB9CB"/>
                </a:solidFill>
              </a:rPr>
              <a:t>звуковое уведомление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06BA2-A8D0-40E5-9E22-C74B1AD7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6DE4D-63E3-44A5-95E9-DA0CD066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E8"/>
          </a:solidFill>
          <a:ln xmlns:a="http://schemas.openxmlformats.org/drawingml/2006/main" w="0">
            <a:solidFill>
              <a:srgbClr val="36B7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6BFCD-5E72-43EF-A050-484C5F05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67250"/>
            <a:ext cx="849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Поддержка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EB0D1-C10E-4216-B18E-B3ADF32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86350"/>
            <a:ext cx="849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Пользователь может открыть отдельный мини-чат с администрацией. Когда сотрудник отвечает, чат становится приватным между пользователем и этим сотрудником.</a:t>
            </a:r>
          </a:p>
        </p:txBody>
      </p:sp>
    </p:spTree>
    <p:extLst>
      <p:ext uri="{BB962C8B-B14F-4D97-AF65-F5344CB8AC3E}">
        <p14:creationId xmlns:p14="http://schemas.microsoft.com/office/powerpoint/2010/main" val="11191915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B0F34-1258-49DF-B907-510C8218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B5304-C6F6-423A-8801-36D1EF8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7641D-5BD8-4054-816A-A30C7F62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66692-6AEA-42EE-BD37-30573D1B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1DB52-47F6-4C78-8E83-2B3EE688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Админка и модерация закрывают управленческую часть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ED523-F953-40CC-A450-59566DFA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DE854-9F2C-4724-8187-5A15505D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30652-EBCD-4EEF-962C-5133EE0D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8728E-2F3F-484C-8481-92F5EB73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E8"/>
          </a:solidFill>
          <a:ln xmlns:a="http://schemas.openxmlformats.org/drawingml/2006/main" w="0">
            <a:solidFill>
              <a:srgbClr val="36B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D135B-F77C-4C35-8D7D-04A7D59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6687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Пользователи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E6306-646E-4EA0-B772-3734574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8597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просмотр профилей, роли, блокировки и ограничения продавцов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05CDB-E569-449D-ADA8-AFC19AA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76375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CBFC3-EEBC-47A1-AAA5-FCFC52C8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76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36D"/>
          </a:solidFill>
          <a:ln xmlns:a="http://schemas.openxmlformats.org/drawingml/2006/main" w="0">
            <a:solidFill>
              <a:srgbClr val="54E3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A7B49-E5DF-4076-B53F-F62FD4E7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6687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Баланс VT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04C95-A6E5-40A2-A40A-054384B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8597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администратор может начислить или снять виртуальную валюту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88DEB-22F0-4B84-B8D6-3533D905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13D75-AC07-4543-9707-5226B9F1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E8"/>
          </a:solidFill>
          <a:ln xmlns:a="http://schemas.openxmlformats.org/drawingml/2006/main" w="0">
            <a:solidFill>
              <a:srgbClr val="36B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D9782-BEB1-4A82-A253-58D4564D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Объявления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21DCA-63B1-4300-A023-23C96C9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модератор и админ одобряют или отклоняют новые публикации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DADA1-52C2-42FC-94EF-83055F9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92664-A0F4-46CD-8080-EF3ECE38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36D"/>
          </a:solidFill>
          <a:ln xmlns:a="http://schemas.openxmlformats.org/drawingml/2006/main" w="0">
            <a:solidFill>
              <a:srgbClr val="54E3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892FD-5E03-4186-B96E-38562941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Промокоды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0C656-EF8C-4C2A-933D-5F0A3446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671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админ создает бонусные коды, пользователь активирует их в профиле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F4890-F5D4-4F72-A799-38334EF2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C2F5A-C0D0-45F6-891E-AB4EB301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E8"/>
          </a:solidFill>
          <a:ln xmlns:a="http://schemas.openxmlformats.org/drawingml/2006/main" w="0">
            <a:solidFill>
              <a:srgbClr val="36B7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4F400-581B-4D38-A993-AD433D13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29125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Споры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35FCF5-FA43-4181-952C-8FC96E4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482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проблемные заказы выносятся в отдельный раздел для разбирательства</a:t>
            </a:r>
          </a:p>
        </p:txBody>
      </p:sp>
    </p:spTree>
    <p:extLst>
      <p:ext uri="{BB962C8B-B14F-4D97-AF65-F5344CB8AC3E}">
        <p14:creationId xmlns:p14="http://schemas.microsoft.com/office/powerpoint/2010/main" val="878623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3AEBB8-7EDF-45FF-8DD2-57FB38E9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A1424-C732-4B7B-B4CF-3985840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12D99-4298-4E1F-95DA-27629149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72885-223C-454C-8B83-495BE75B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75FC9-9281-496A-A9B2-59600C00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Безопасность заложена в авторизацию и права доступа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20C20-773D-467C-9A10-F1F80E4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D088F-FD91-4A62-AA5E-FB8D4AD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D8F0D-8A43-46E4-A645-36F32B20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C057D-8CFE-4DC2-AFD1-A8F282FC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36D"/>
          </a:solidFill>
          <a:ln xmlns:a="http://schemas.openxmlformats.org/drawingml/2006/main" w="0">
            <a:solidFill>
              <a:srgbClr val="54E3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BF105-CAC8-4A76-AD05-49C233E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621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JWT и refresh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88E5D-9BD8-42A7-B954-185766CE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короткоживущий access token и обновление сессии без повторного ввода пароля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89188-C1D3-45AC-B04F-372B54F0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CC323-8323-4F0A-9C21-62F757E7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E8"/>
          </a:solidFill>
          <a:ln xmlns:a="http://schemas.openxmlformats.org/drawingml/2006/main" w="0">
            <a:solidFill>
              <a:srgbClr val="36B7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EFF8B-46EC-432F-BE3C-64B8CFE1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Ролевые политики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FDADD-3A3F-4A66-8091-04DE8955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81225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User, Seller, Moderator и Admin видят только доступные им действия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EA485-C778-4846-8DF9-EE01A5C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FCBAE-0B69-4E07-8F82-CC4CC9AC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7162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04D"/>
          </a:solidFill>
          <a:ln xmlns:a="http://schemas.openxmlformats.org/drawingml/2006/main" w="0">
            <a:solidFill>
              <a:srgbClr val="F4C0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A5B77-3B5A-4842-A56D-F46EF241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OAuth-провайдеры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7A11A-2EB4-47DA-A089-CB421F68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81225"/>
            <a:ext cx="2876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Google и Telegram OIDC проверяются на backend перед созданием пользовательской сессии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3D734-32A8-413C-A74A-A8BAACEF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E7E60-A80F-4410-A352-221508F8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B59"/>
          </a:solidFill>
          <a:ln xmlns:a="http://schemas.openxmlformats.org/drawingml/2006/main" w="0">
            <a:solidFill>
              <a:srgbClr val="2FCB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1E495-F533-4F12-BD0A-EFF024C0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Email reset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41C45-B10D-48A0-BB91-D85A8534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восстановление пароля идет через временный токен и SMTP-письмо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297AE-7D85-48FC-A7F1-0EC9CBE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00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D7450-C6B9-4A0D-932E-41B5F76B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0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E8"/>
          </a:solidFill>
          <a:ln xmlns:a="http://schemas.openxmlformats.org/drawingml/2006/main" w="0">
            <a:solidFill>
              <a:srgbClr val="36B7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7ADB2-E06D-41C6-AEFB-26C9545E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005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CORS и env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D10BD-E0E7-4ED7-92D3-5D13672E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196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секреты, URL и Client ID хранятся в переменных окружения Render и Vercel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BC5D3-7CB6-4469-8D43-0FB4A59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1D25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8FC401-C6F6-4D44-9028-E64DEF90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75"/>
          </a:solidFill>
          <a:ln xmlns:a="http://schemas.openxmlformats.org/drawingml/2006/main" w="0">
            <a:solidFill>
              <a:srgbClr val="FF657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EF5537-5168-4B12-99AE-B2FB7434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Права на данные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245524-61B5-47B8-B2AE-91E13D45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196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DB9CB"/>
                </a:solidFill>
              </a:defRPr>
            </a:pPr>
            <a:r>
              <a:rPr sz="1350" b="0">
                <a:solidFill>
                  <a:srgbClr val="9DB9CB"/>
                </a:solidFill>
              </a:rPr>
              <a:t>чаты, история заказов и админские endpoint'ы проверяют участника и роль</a:t>
            </a:r>
          </a:p>
        </p:txBody>
      </p:sp>
    </p:spTree>
    <p:extLst>
      <p:ext uri="{BB962C8B-B14F-4D97-AF65-F5344CB8AC3E}">
        <p14:creationId xmlns:p14="http://schemas.microsoft.com/office/powerpoint/2010/main" val="1115286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62C7FD-3B0B-4429-B3D0-8A7D1413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C50E5-C3B4-4A81-AC00-069CEDEF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208B6-8B33-4723-80D9-D8AB5C9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6DD21-4F8E-4C78-B8C3-921F60E7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A6D46-E804-45AF-A675-E6E9C3F1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Проект уже подготовлен к развертыванию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3E929-04A2-47E6-977D-037D6B7A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99104-10AE-4197-B53D-9116E691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D7E23-BD5B-4614-A365-0B609F2A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DB9CB"/>
                </a:solidFill>
              </a:defRPr>
            </a:pPr>
            <a:r>
              <a:rPr sz="1650" b="0">
                <a:solidFill>
                  <a:srgbClr val="9DB9CB"/>
                </a:solidFill>
              </a:rPr>
              <a:t>Backend запускается в Docker на Render, frontend собирается Vite и публикуется на Vercel. База данных PostgreSQL хранит пользователей, товары, заказы, сообщения и промокоды.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AF626-BE7D-4D3D-8BEE-EC694F6F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2202A"/>
          </a:solidFill>
          <a:ln xmlns:a="http://schemas.openxmlformats.org/drawingml/2006/main" w="9525">
            <a:solidFill>
              <a:srgbClr val="36B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A1068-0A18-430D-B159-7D3F55C8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B7E8"/>
                </a:solidFill>
              </a:defRPr>
            </a:pPr>
            <a:r>
              <a:rPr sz="2400" b="1">
                <a:solidFill>
                  <a:srgbClr val="36B7E8"/>
                </a:solidFill>
              </a:rPr>
              <a:t>Vercel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A9EDA-9D31-4463-8F53-7BC1E482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5FFF7"/>
                </a:solidFill>
              </a:defRPr>
            </a:pPr>
            <a:r>
              <a:rPr sz="1650" b="0">
                <a:solidFill>
                  <a:srgbClr val="F5FFF7"/>
                </a:solidFill>
              </a:rPr>
              <a:t>frontend</a:t>
            </a:r>
          </a:p>
          <a:p xmlns:a="http://schemas.openxmlformats.org/drawingml/2006/main">
            <a:pPr algn="ctr">
              <a:defRPr sz="1650" b="0">
                <a:solidFill>
                  <a:srgbClr val="F5FFF7"/>
                </a:solidFill>
              </a:defRPr>
            </a:pPr>
            <a:r>
              <a:rPr sz="1650" b="0">
                <a:solidFill>
                  <a:srgbClr val="F5FFF7"/>
                </a:solidFill>
              </a:rPr>
              <a:t>React + Vite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3307B-744D-4598-BA6F-B4295450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14625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2241B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62998-1539-4E3B-A9DF-2151B8EB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9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4E36D"/>
                </a:solidFill>
              </a:defRPr>
            </a:pPr>
            <a:r>
              <a:rPr sz="2400" b="1">
                <a:solidFill>
                  <a:srgbClr val="54E36D"/>
                </a:solidFill>
              </a:rPr>
              <a:t>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806DF-582B-415D-AA67-D34B06D3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5FFF7"/>
                </a:solidFill>
              </a:defRPr>
            </a:pPr>
            <a:r>
              <a:rPr sz="1650" b="0">
                <a:solidFill>
                  <a:srgbClr val="F5FFF7"/>
                </a:solidFill>
              </a:rPr>
              <a:t>backend</a:t>
            </a:r>
          </a:p>
          <a:p xmlns:a="http://schemas.openxmlformats.org/drawingml/2006/main">
            <a:pPr algn="ctr">
              <a:defRPr sz="1650" b="0">
                <a:solidFill>
                  <a:srgbClr val="F5FFF7"/>
                </a:solidFill>
              </a:defRPr>
            </a:pPr>
            <a:r>
              <a:rPr sz="1650" b="0">
                <a:solidFill>
                  <a:srgbClr val="F5FFF7"/>
                </a:solidFill>
              </a:rPr>
              <a:t>ASP.NET Core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31649-A77D-4994-A1A2-1DBCCE87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41F13"/>
          </a:solidFill>
          <a:ln xmlns:a="http://schemas.openxmlformats.org/drawingml/2006/main" w="9525">
            <a:solidFill>
              <a:srgbClr val="F4C0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2CA1A-5E41-4231-BD6E-3E1463E1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9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C04D"/>
                </a:solidFill>
              </a:defRPr>
            </a:pPr>
            <a:r>
              <a:rPr sz="2400" b="1">
                <a:solidFill>
                  <a:srgbClr val="F4C04D"/>
                </a:solidFill>
              </a:rPr>
              <a:t>PostgreSQL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09EC0-456E-4CF6-BC84-0A5E63AB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62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5FFF7"/>
                </a:solidFill>
              </a:defRPr>
            </a:pPr>
            <a:r>
              <a:rPr sz="1650" b="0">
                <a:solidFill>
                  <a:srgbClr val="F5FFF7"/>
                </a:solidFill>
              </a:rPr>
              <a:t>данные</a:t>
            </a:r>
          </a:p>
          <a:p xmlns:a="http://schemas.openxmlformats.org/drawingml/2006/main">
            <a:pPr algn="ctr">
              <a:defRPr sz="1650" b="0">
                <a:solidFill>
                  <a:srgbClr val="F5FFF7"/>
                </a:solidFill>
              </a:defRPr>
            </a:pPr>
            <a:r>
              <a:rPr sz="1650" b="0">
                <a:solidFill>
                  <a:srgbClr val="F5FFF7"/>
                </a:solidFill>
              </a:rPr>
              <a:t>EF Core migrations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F16C0-AC90-4885-9694-6D874F76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FF7"/>
                </a:solidFill>
              </a:defRPr>
            </a:pPr>
            <a:r>
              <a:rPr sz="1800" b="1">
                <a:solidFill>
                  <a:srgbClr val="F5FFF7"/>
                </a:solidFill>
              </a:rPr>
              <a:t>Для запуска нужны переменные окружения: DATABASE_URL, JWT, CORS, Google, Telegram и SMTP.</a:t>
            </a:r>
          </a:p>
        </p:txBody>
      </p:sp>
    </p:spTree>
    <p:extLst>
      <p:ext uri="{BB962C8B-B14F-4D97-AF65-F5344CB8AC3E}">
        <p14:creationId xmlns:p14="http://schemas.microsoft.com/office/powerpoint/2010/main" val="19043443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AC2F9A-203E-4E3B-BE90-85CEB6D1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F073A-67EB-4F23-8604-752E2C91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10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F4AEA-DB94-441C-ACFB-32A296A1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7AD1D-B7F1-40D7-BC78-2F881970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5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A96C6-1D26-454C-804D-8DB57115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FF7"/>
                </a:solidFill>
              </a:defRPr>
            </a:pPr>
            <a:r>
              <a:rPr sz="2850" b="1">
                <a:solidFill>
                  <a:srgbClr val="F5FFF7"/>
                </a:solidFill>
              </a:rPr>
              <a:t>На защите лучше показывать один цельный сценарий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27566-CA16-46DF-9A07-406ED297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E36D"/>
                </a:solidFill>
              </a:defRPr>
            </a:pPr>
            <a:r>
              <a:rPr sz="1200" b="1">
                <a:solidFill>
                  <a:srgbClr val="54E36D"/>
                </a:solidFill>
              </a:rPr>
              <a:t>VaultTrade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82925-67C1-458C-A988-C050DC02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E"/>
          </a:solidFill>
          <a:ln xmlns:a="http://schemas.openxmlformats.org/drawingml/2006/main" w="0">
            <a:solidFill>
              <a:srgbClr val="2941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2E25A-17FD-4852-B7A4-7B45EBF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D3BA8-FF60-430F-804B-061DB03A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430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C8AA1-EBC5-4CBD-BBEE-2B6D6655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09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E36D"/>
                </a:solidFill>
              </a:defRPr>
            </a:pPr>
            <a:r>
              <a:rPr sz="1500" b="1">
                <a:solidFill>
                  <a:srgbClr val="54E36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3B3EF-CE38-4C85-8536-EC04DF02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906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</a:defRPr>
            </a:pPr>
            <a:r>
              <a:rPr sz="1350" b="1">
                <a:solidFill>
                  <a:srgbClr val="F5FFF7"/>
                </a:solidFill>
              </a:rPr>
              <a:t>Войти через Google или Telegram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A8BDB-E9D6-47F8-8EA2-72950F1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4F774-29AA-4A72-8B0D-ADF961CC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6EAF8-0243-4ED8-BEE7-1DBA0B0B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86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E36D"/>
                </a:solidFill>
              </a:defRPr>
            </a:pPr>
            <a:r>
              <a:rPr sz="1500" b="1">
                <a:solidFill>
                  <a:srgbClr val="54E36D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FFD93-994C-48E5-97C5-B1375A6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669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</a:defRPr>
            </a:pPr>
            <a:r>
              <a:rPr sz="1350" b="1">
                <a:solidFill>
                  <a:srgbClr val="F5FFF7"/>
                </a:solidFill>
              </a:rPr>
              <a:t>Создать объявление с категорией, количеством и картинкой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C2B17-6DD8-4161-957F-BB0952D6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0D037-D897-4FB2-8C27-360A160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83183-9AD6-41EE-BAA4-CDF8D29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23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E36D"/>
                </a:solidFill>
              </a:defRPr>
            </a:pPr>
            <a:r>
              <a:rPr sz="1500" b="1">
                <a:solidFill>
                  <a:srgbClr val="54E36D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D786C-036F-43D1-8BAF-A633953E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432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</a:defRPr>
            </a:pPr>
            <a:r>
              <a:rPr sz="1350" b="1">
                <a:solidFill>
                  <a:srgbClr val="F5FFF7"/>
                </a:solidFill>
              </a:rPr>
              <a:t>Одобрить объявление модератором или админом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F0AA0-E563-4FA8-A770-74807EF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717CD-5AB7-4C9D-B1D7-E4B1E962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70D4E-C932-4C1C-BD7F-B0663B4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E36D"/>
                </a:solidFill>
              </a:defRPr>
            </a:pPr>
            <a:r>
              <a:rPr sz="1500" b="1">
                <a:solidFill>
                  <a:srgbClr val="54E36D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98EB6-8917-42D4-A5A7-FA9B138E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95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</a:defRPr>
            </a:pPr>
            <a:r>
              <a:rPr sz="1350" b="1">
                <a:solidFill>
                  <a:srgbClr val="F5FFF7"/>
                </a:solidFill>
              </a:rPr>
              <a:t>Купить товар с другого аккаунта и написать продавцу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BDFE1-8E50-4AC0-B241-520F675E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E595C-68BB-481D-B208-37E8AAB5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430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A0AE0-3062-4A34-8552-C8DEAA1C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097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E36D"/>
                </a:solidFill>
              </a:defRPr>
            </a:pPr>
            <a:r>
              <a:rPr sz="1500" b="1">
                <a:solidFill>
                  <a:srgbClr val="54E36D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796135-B7A4-44A3-8B1C-31E0C6AC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906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</a:defRPr>
            </a:pPr>
            <a:r>
              <a:rPr sz="1350" b="1">
                <a:solidFill>
                  <a:srgbClr val="F5FFF7"/>
                </a:solidFill>
              </a:rPr>
              <a:t>Подтвердить товар, показать списание и начисление VT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2497A0-CAEE-421A-B8D2-C07B1E62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730F2-E868-46E8-B99F-1CA565B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2BB64-4AFF-403F-9AA8-BDE3D63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86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E36D"/>
                </a:solidFill>
              </a:defRPr>
            </a:pPr>
            <a:r>
              <a:rPr sz="1500" b="1">
                <a:solidFill>
                  <a:srgbClr val="54E36D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35127D-C9FB-47A6-99AC-6F0C2DAC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669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</a:defRPr>
            </a:pPr>
            <a:r>
              <a:rPr sz="1350" b="1">
                <a:solidFill>
                  <a:srgbClr val="F5FFF7"/>
                </a:solidFill>
              </a:rPr>
              <a:t>Оставить отзыв и открыть профиль продавца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A9B317-6858-400B-8569-D7B11233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762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92833"/>
          </a:solidFill>
          <a:ln xmlns:a="http://schemas.openxmlformats.org/drawingml/2006/main" w="9525">
            <a:solidFill>
              <a:srgbClr val="29414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9A31DF-7D8D-4A68-BE38-D5F6EC3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956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3322"/>
          </a:solidFill>
          <a:ln xmlns:a="http://schemas.openxmlformats.org/drawingml/2006/main" w="9525">
            <a:solidFill>
              <a:srgbClr val="54E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A3848-511E-4866-B2E7-0AFED55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623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4E36D"/>
                </a:solidFill>
              </a:defRPr>
            </a:pPr>
            <a:r>
              <a:rPr sz="1500" b="1">
                <a:solidFill>
                  <a:srgbClr val="54E36D"/>
                </a:solidFill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842E7E-C6A5-4CA2-8FE0-78F40D04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432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FF7"/>
                </a:solidFill>
              </a:defRPr>
            </a:pPr>
            <a:r>
              <a:rPr sz="1350" b="1">
                <a:solidFill>
                  <a:srgbClr val="F5FFF7"/>
                </a:solidFill>
              </a:rPr>
              <a:t>Показать поддержку, промокоды, роли и споры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3072DE-F018-4B41-88F7-EAB7C784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4E36D"/>
                </a:solidFill>
              </a:defRPr>
            </a:pPr>
            <a:r>
              <a:rPr sz="1800" b="1">
                <a:solidFill>
                  <a:srgbClr val="54E36D"/>
                </a:solidFill>
              </a:rPr>
              <a:t>Финальная мысль: это не просто верстка, а marketplace с ролями, бизнес-логикой, real-time и деплоем.</a:t>
            </a:r>
          </a:p>
        </p:txBody>
      </p:sp>
    </p:spTree>
    <p:extLst>
      <p:ext uri="{BB962C8B-B14F-4D97-AF65-F5344CB8AC3E}">
        <p14:creationId xmlns:p14="http://schemas.microsoft.com/office/powerpoint/2010/main" val="597167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2026-08-20T08:48:29.8120000Z</dcterms:created>
  <dcterms:modified xsi:type="dcterms:W3CDTF">2026-08-20T08:48:29.8120000Z</dcterms:modified>
</coreProperties>
</file>